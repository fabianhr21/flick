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9" r:id="rId4"/>
    <p:sldMasterId id="2147483709" r:id="rId5"/>
    <p:sldMasterId id="2147483686" r:id="rId6"/>
  </p:sldMasterIdLst>
  <p:notesMasterIdLst>
    <p:notesMasterId r:id="rId31"/>
  </p:notesMasterIdLst>
  <p:sldIdLst>
    <p:sldId id="273" r:id="rId7"/>
    <p:sldId id="274" r:id="rId8"/>
    <p:sldId id="328" r:id="rId9"/>
    <p:sldId id="335" r:id="rId10"/>
    <p:sldId id="349" r:id="rId11"/>
    <p:sldId id="299" r:id="rId12"/>
    <p:sldId id="338" r:id="rId13"/>
    <p:sldId id="303" r:id="rId14"/>
    <p:sldId id="339" r:id="rId15"/>
    <p:sldId id="348" r:id="rId16"/>
    <p:sldId id="340" r:id="rId17"/>
    <p:sldId id="304" r:id="rId18"/>
    <p:sldId id="341" r:id="rId19"/>
    <p:sldId id="342" r:id="rId20"/>
    <p:sldId id="343" r:id="rId21"/>
    <p:sldId id="347" r:id="rId22"/>
    <p:sldId id="309" r:id="rId23"/>
    <p:sldId id="344" r:id="rId24"/>
    <p:sldId id="336" r:id="rId25"/>
    <p:sldId id="333" r:id="rId26"/>
    <p:sldId id="334" r:id="rId27"/>
    <p:sldId id="337" r:id="rId28"/>
    <p:sldId id="318" r:id="rId29"/>
    <p:sldId id="310" r:id="rId30"/>
  </p:sldIdLst>
  <p:sldSz cx="9144000" cy="5143500" type="screen16x9"/>
  <p:notesSz cx="6858000" cy="9144000"/>
  <p:embeddedFontLst>
    <p:embeddedFont>
      <p:font typeface="Gill Sans" panose="020B0604020202020204" charset="0"/>
      <p:regular r:id="rId32"/>
      <p:bold r:id="rId33"/>
    </p:embeddedFont>
    <p:embeddedFont>
      <p:font typeface="Impact" panose="020B0806030902050204" pitchFamily="34" charset="0"/>
      <p:regular r:id="rId34"/>
    </p:embeddedFont>
    <p:embeddedFont>
      <p:font typeface="Open Sans" panose="020B060603050402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429" userDrawn="1">
          <p15:clr>
            <a:srgbClr val="A4A3A4"/>
          </p15:clr>
        </p15:guide>
        <p15:guide id="2" pos="2562" userDrawn="1">
          <p15:clr>
            <a:srgbClr val="A4A3A4"/>
          </p15:clr>
        </p15:guide>
        <p15:guide id="3" orient="horz" pos="13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0033A0"/>
    <a:srgbClr val="0138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1AF048-6EF8-196F-8248-857D1446508F}" v="1" dt="2026-01-16T13:20:10.213"/>
    <p1510:client id="{8DA7A017-A4F7-43EE-9302-3F5E0640E0A1}" v="1" dt="2026-01-16T13:24:01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44" y="76"/>
      </p:cViewPr>
      <p:guideLst>
        <p:guide pos="1429"/>
        <p:guide pos="2562"/>
        <p:guide orient="horz" pos="13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presProps" Target="presProps.xml"/><Relationship Id="rId21" Type="http://schemas.openxmlformats.org/officeDocument/2006/relationships/slide" Target="slides/slide15.xml"/><Relationship Id="rId34" Type="http://schemas.openxmlformats.org/officeDocument/2006/relationships/font" Target="fonts/font3.fntdata"/><Relationship Id="rId42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font" Target="fonts/font5.fntdata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font" Target="fonts/font4.fntdata"/><Relationship Id="rId43" Type="http://schemas.microsoft.com/office/2015/10/relationships/revisionInfo" Target="revisionInfo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8570fa0f0e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g28570fa0f0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8570fa0f0e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g28570fa0f0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>
          <a:extLst>
            <a:ext uri="{FF2B5EF4-FFF2-40B4-BE49-F238E27FC236}">
              <a16:creationId xmlns:a16="http://schemas.microsoft.com/office/drawing/2014/main" id="{EEB071AA-84EE-71CB-511E-00BC53661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8570fa0f0e_0_21:notes">
            <a:extLst>
              <a:ext uri="{FF2B5EF4-FFF2-40B4-BE49-F238E27FC236}">
                <a16:creationId xmlns:a16="http://schemas.microsoft.com/office/drawing/2014/main" id="{E5044CB9-4150-CC49-A11C-15E8675E00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g28570fa0f0e_0_21:notes">
            <a:extLst>
              <a:ext uri="{FF2B5EF4-FFF2-40B4-BE49-F238E27FC236}">
                <a16:creationId xmlns:a16="http://schemas.microsoft.com/office/drawing/2014/main" id="{C52888A5-8986-B5A4-E581-6A6A72A7B6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9572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>
          <a:extLst>
            <a:ext uri="{FF2B5EF4-FFF2-40B4-BE49-F238E27FC236}">
              <a16:creationId xmlns:a16="http://schemas.microsoft.com/office/drawing/2014/main" id="{2DE9A9CE-1E3D-7026-1C82-013719D4A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8570fa0f0e_0_21:notes">
            <a:extLst>
              <a:ext uri="{FF2B5EF4-FFF2-40B4-BE49-F238E27FC236}">
                <a16:creationId xmlns:a16="http://schemas.microsoft.com/office/drawing/2014/main" id="{AC0D4067-0214-E29F-4700-0B8FED0418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g28570fa0f0e_0_21:notes">
            <a:extLst>
              <a:ext uri="{FF2B5EF4-FFF2-40B4-BE49-F238E27FC236}">
                <a16:creationId xmlns:a16="http://schemas.microsoft.com/office/drawing/2014/main" id="{992D6997-5777-7805-5DA2-649615BF2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2845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>
          <a:extLst>
            <a:ext uri="{FF2B5EF4-FFF2-40B4-BE49-F238E27FC236}">
              <a16:creationId xmlns:a16="http://schemas.microsoft.com/office/drawing/2014/main" id="{F7525DEF-E1A4-66DB-8790-84B602AEC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8570fa0f0e_0_21:notes">
            <a:extLst>
              <a:ext uri="{FF2B5EF4-FFF2-40B4-BE49-F238E27FC236}">
                <a16:creationId xmlns:a16="http://schemas.microsoft.com/office/drawing/2014/main" id="{B73065DB-E414-F68C-ECDB-B98952E2D3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g28570fa0f0e_0_21:notes">
            <a:extLst>
              <a:ext uri="{FF2B5EF4-FFF2-40B4-BE49-F238E27FC236}">
                <a16:creationId xmlns:a16="http://schemas.microsoft.com/office/drawing/2014/main" id="{A1A5E564-F1A8-F179-B63F-376595E997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5161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>
          <a:extLst>
            <a:ext uri="{FF2B5EF4-FFF2-40B4-BE49-F238E27FC236}">
              <a16:creationId xmlns:a16="http://schemas.microsoft.com/office/drawing/2014/main" id="{44545592-61D8-F26D-3445-15630DB2C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8570fa0f0e_0_21:notes">
            <a:extLst>
              <a:ext uri="{FF2B5EF4-FFF2-40B4-BE49-F238E27FC236}">
                <a16:creationId xmlns:a16="http://schemas.microsoft.com/office/drawing/2014/main" id="{F79B2C1F-2B78-0A17-0249-0B611F420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g28570fa0f0e_0_21:notes">
            <a:extLst>
              <a:ext uri="{FF2B5EF4-FFF2-40B4-BE49-F238E27FC236}">
                <a16:creationId xmlns:a16="http://schemas.microsoft.com/office/drawing/2014/main" id="{7D2C3BD0-6E40-6619-79E6-9352D4CE70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93831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>
          <a:extLst>
            <a:ext uri="{FF2B5EF4-FFF2-40B4-BE49-F238E27FC236}">
              <a16:creationId xmlns:a16="http://schemas.microsoft.com/office/drawing/2014/main" id="{B8B5D5FF-8C61-B444-9A08-07D8AF577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8570fa0f0e_0_21:notes">
            <a:extLst>
              <a:ext uri="{FF2B5EF4-FFF2-40B4-BE49-F238E27FC236}">
                <a16:creationId xmlns:a16="http://schemas.microsoft.com/office/drawing/2014/main" id="{5B60E0B1-9633-A074-6884-3848783656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g28570fa0f0e_0_21:notes">
            <a:extLst>
              <a:ext uri="{FF2B5EF4-FFF2-40B4-BE49-F238E27FC236}">
                <a16:creationId xmlns:a16="http://schemas.microsoft.com/office/drawing/2014/main" id="{2E4324D3-3A73-AB2F-85BA-C7DBE3C508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5487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>
          <a:extLst>
            <a:ext uri="{FF2B5EF4-FFF2-40B4-BE49-F238E27FC236}">
              <a16:creationId xmlns:a16="http://schemas.microsoft.com/office/drawing/2014/main" id="{3D7D6669-AC66-99BE-5535-1052DC362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8570fa0f0e_0_0:notes">
            <a:extLst>
              <a:ext uri="{FF2B5EF4-FFF2-40B4-BE49-F238E27FC236}">
                <a16:creationId xmlns:a16="http://schemas.microsoft.com/office/drawing/2014/main" id="{2FE7A404-B233-B571-D6FE-498F9DA71F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Hablar de </a:t>
            </a:r>
            <a:r>
              <a:rPr lang="es-MX" err="1"/>
              <a:t>bcn</a:t>
            </a:r>
            <a:endParaRPr/>
          </a:p>
        </p:txBody>
      </p:sp>
      <p:sp>
        <p:nvSpPr>
          <p:cNvPr id="514" name="Google Shape;514;g28570fa0f0e_0_0:notes">
            <a:extLst>
              <a:ext uri="{FF2B5EF4-FFF2-40B4-BE49-F238E27FC236}">
                <a16:creationId xmlns:a16="http://schemas.microsoft.com/office/drawing/2014/main" id="{C2FBDE20-B8FD-A0BB-DCEE-89922F1D84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4696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>
          <a:extLst>
            <a:ext uri="{FF2B5EF4-FFF2-40B4-BE49-F238E27FC236}">
              <a16:creationId xmlns:a16="http://schemas.microsoft.com/office/drawing/2014/main" id="{104BF7DF-63E7-5412-CCEE-E8632B2BF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8570fa0f0e_0_21:notes">
            <a:extLst>
              <a:ext uri="{FF2B5EF4-FFF2-40B4-BE49-F238E27FC236}">
                <a16:creationId xmlns:a16="http://schemas.microsoft.com/office/drawing/2014/main" id="{503750E3-353B-B99C-C76C-6963A7AF13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g28570fa0f0e_0_21:notes">
            <a:extLst>
              <a:ext uri="{FF2B5EF4-FFF2-40B4-BE49-F238E27FC236}">
                <a16:creationId xmlns:a16="http://schemas.microsoft.com/office/drawing/2014/main" id="{243D459C-21E2-B78C-1AF9-DF73DD94C6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1428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548878" y="4785973"/>
            <a:ext cx="3086100" cy="142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8528897" y="4785974"/>
            <a:ext cx="275759" cy="14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46">
          <p15:clr>
            <a:srgbClr val="FBAE40"/>
          </p15:clr>
        </p15:guide>
        <p15:guide id="2" pos="5414">
          <p15:clr>
            <a:srgbClr val="FBAE40"/>
          </p15:clr>
        </p15:guide>
        <p15:guide id="3" orient="horz" pos="3031">
          <p15:clr>
            <a:srgbClr val="FBAE40"/>
          </p15:clr>
        </p15:guide>
        <p15:guide id="4" orient="horz" pos="803">
          <p15:clr>
            <a:srgbClr val="FBAE40"/>
          </p15:clr>
        </p15:guide>
        <p15:guide id="5" orient="horz" pos="463">
          <p15:clr>
            <a:srgbClr val="FBAE40"/>
          </p15:clr>
        </p15:guide>
        <p15:guide id="6" orient="horz" pos="2811">
          <p15:clr>
            <a:srgbClr val="FBAE40"/>
          </p15:clr>
        </p15:guide>
        <p15:guide id="7" orient="horz" pos="3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3">
  <p:cSld name="Content 3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530476" y="349048"/>
            <a:ext cx="7157493" cy="328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538011" y="713183"/>
            <a:ext cx="715749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94AA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F94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2"/>
          </p:nvPr>
        </p:nvSpPr>
        <p:spPr>
          <a:xfrm>
            <a:off x="553897" y="1234894"/>
            <a:ext cx="8041225" cy="3227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7619"/>
              </a:lnSpc>
              <a:spcBef>
                <a:spcPts val="600"/>
              </a:spcBef>
              <a:spcAft>
                <a:spcPts val="0"/>
              </a:spcAft>
              <a:buClr>
                <a:srgbClr val="7F94AA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25555"/>
              </a:lnSpc>
              <a:spcBef>
                <a:spcPts val="400"/>
              </a:spcBef>
              <a:spcAft>
                <a:spcPts val="0"/>
              </a:spcAft>
              <a:buClr>
                <a:srgbClr val="7F94AA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555"/>
              </a:lnSpc>
              <a:spcBef>
                <a:spcPts val="400"/>
              </a:spcBef>
              <a:spcAft>
                <a:spcPts val="0"/>
              </a:spcAft>
              <a:buClr>
                <a:srgbClr val="7F94AA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555"/>
              </a:lnSpc>
              <a:spcBef>
                <a:spcPts val="400"/>
              </a:spcBef>
              <a:spcAft>
                <a:spcPts val="0"/>
              </a:spcAft>
              <a:buClr>
                <a:srgbClr val="7F94AA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528897" y="4785974"/>
            <a:ext cx="275759" cy="14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ftr" idx="11"/>
          </p:nvPr>
        </p:nvSpPr>
        <p:spPr>
          <a:xfrm>
            <a:off x="548878" y="4785973"/>
            <a:ext cx="3086100" cy="142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46">
          <p15:clr>
            <a:srgbClr val="FBAE40"/>
          </p15:clr>
        </p15:guide>
        <p15:guide id="2" pos="5414">
          <p15:clr>
            <a:srgbClr val="FBAE40"/>
          </p15:clr>
        </p15:guide>
        <p15:guide id="3" orient="horz" pos="3031">
          <p15:clr>
            <a:srgbClr val="FBAE40"/>
          </p15:clr>
        </p15:guide>
        <p15:guide id="4" orient="horz" pos="803">
          <p15:clr>
            <a:srgbClr val="FBAE40"/>
          </p15:clr>
        </p15:guide>
        <p15:guide id="5" orient="horz" pos="463">
          <p15:clr>
            <a:srgbClr val="FBAE40"/>
          </p15:clr>
        </p15:guide>
        <p15:guide id="6" orient="horz" pos="2811">
          <p15:clr>
            <a:srgbClr val="FBAE40"/>
          </p15:clr>
        </p15:guide>
        <p15:guide id="7" orient="horz" pos="37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ndby">
  <p:cSld name="Standb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-Slide Light EN">
  <p:cSld name="Title-Slide Light E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3795047" y="1578068"/>
            <a:ext cx="405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1"/>
          </p:nvPr>
        </p:nvSpPr>
        <p:spPr>
          <a:xfrm>
            <a:off x="3795047" y="3416313"/>
            <a:ext cx="4050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8" descr="Partnerlogo"/>
          <p:cNvSpPr>
            <a:spLocks noGrp="1"/>
          </p:cNvSpPr>
          <p:nvPr>
            <p:ph type="pic" idx="2"/>
          </p:nvPr>
        </p:nvSpPr>
        <p:spPr>
          <a:xfrm>
            <a:off x="4162505" y="4144009"/>
            <a:ext cx="972106" cy="672534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8" descr="Partnerlogo"/>
          <p:cNvSpPr>
            <a:spLocks noGrp="1"/>
          </p:cNvSpPr>
          <p:nvPr>
            <p:ph type="pic" idx="3"/>
          </p:nvPr>
        </p:nvSpPr>
        <p:spPr>
          <a:xfrm>
            <a:off x="5517723" y="4144009"/>
            <a:ext cx="972106" cy="672534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8" descr="Partnerlogo"/>
          <p:cNvSpPr>
            <a:spLocks noGrp="1"/>
          </p:cNvSpPr>
          <p:nvPr>
            <p:ph type="pic" idx="4"/>
          </p:nvPr>
        </p:nvSpPr>
        <p:spPr>
          <a:xfrm>
            <a:off x="2807286" y="4144009"/>
            <a:ext cx="972106" cy="672534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8" descr="Partnerlogo"/>
          <p:cNvSpPr>
            <a:spLocks noGrp="1"/>
          </p:cNvSpPr>
          <p:nvPr>
            <p:ph type="pic" idx="5"/>
          </p:nvPr>
        </p:nvSpPr>
        <p:spPr>
          <a:xfrm>
            <a:off x="6872941" y="4144009"/>
            <a:ext cx="972106" cy="672534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8"/>
          <p:cNvSpPr txBox="1">
            <a:spLocks noGrp="1"/>
          </p:cNvSpPr>
          <p:nvPr>
            <p:ph type="body" idx="6"/>
          </p:nvPr>
        </p:nvSpPr>
        <p:spPr>
          <a:xfrm>
            <a:off x="3795047" y="2709377"/>
            <a:ext cx="4050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7"/>
          </p:nvPr>
        </p:nvSpPr>
        <p:spPr>
          <a:xfrm>
            <a:off x="3795047" y="2305723"/>
            <a:ext cx="4050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938">
          <p15:clr>
            <a:srgbClr val="FBAE40"/>
          </p15:clr>
        </p15:guide>
        <p15:guide id="2" orient="horz" pos="2165">
          <p15:clr>
            <a:srgbClr val="FBAE40"/>
          </p15:clr>
        </p15:guide>
        <p15:guide id="3" orient="horz" pos="236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hapter-Slide Light">
  <p:cSld name="Chapter-Slide Ligh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>
            <a:off x="3793969" y="1578068"/>
            <a:ext cx="4051078" cy="9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0" rIns="0" bIns="0" anchor="b" anchorCtr="0">
            <a:norm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1"/>
          </p:nvPr>
        </p:nvSpPr>
        <p:spPr>
          <a:xfrm>
            <a:off x="3793970" y="2640191"/>
            <a:ext cx="4051078" cy="9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0" rIns="0" bIns="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92A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92A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sldNum" idx="12"/>
          </p:nvPr>
        </p:nvSpPr>
        <p:spPr>
          <a:xfrm>
            <a:off x="8528897" y="4785974"/>
            <a:ext cx="275759" cy="14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938">
          <p15:clr>
            <a:srgbClr val="FBAE40"/>
          </p15:clr>
        </p15:guide>
        <p15:guide id="2" orient="horz" pos="2165">
          <p15:clr>
            <a:srgbClr val="FBAE40"/>
          </p15:clr>
        </p15:guide>
        <p15:guide id="3" orient="horz" pos="236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inal-Slide EN">
  <p:cSld name="Final-Slide E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0"/>
          <p:cNvSpPr txBox="1"/>
          <p:nvPr/>
        </p:nvSpPr>
        <p:spPr>
          <a:xfrm>
            <a:off x="2891024" y="3267308"/>
            <a:ext cx="4953451" cy="127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7F94AA"/>
                </a:solidFill>
                <a:latin typeface="Arial"/>
                <a:ea typeface="Arial"/>
                <a:cs typeface="Arial"/>
                <a:sym typeface="Arial"/>
              </a:rPr>
              <a:t>Supported by BMWK – Federal Ministry for </a:t>
            </a:r>
            <a:br>
              <a:rPr lang="es-419" sz="1200">
                <a:solidFill>
                  <a:srgbClr val="7F94A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419" sz="1200">
                <a:solidFill>
                  <a:srgbClr val="7F94AA"/>
                </a:solidFill>
                <a:latin typeface="Arial"/>
                <a:ea typeface="Arial"/>
                <a:cs typeface="Arial"/>
                <a:sym typeface="Arial"/>
              </a:rPr>
              <a:t>Economic Affairs and Climate Action</a:t>
            </a:r>
            <a:endParaRPr sz="1100"/>
          </a:p>
          <a:p>
            <a:pPr marL="0" marR="0" lvl="0" indent="0" algn="r" rtl="0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  <a:buClr>
                <a:srgbClr val="7F94AA"/>
              </a:buClr>
              <a:buSzPts val="1200"/>
              <a:buFont typeface="Arial"/>
              <a:buNone/>
            </a:pPr>
            <a:r>
              <a:rPr lang="es-419" sz="1200">
                <a:solidFill>
                  <a:srgbClr val="7F94AA"/>
                </a:solidFill>
                <a:latin typeface="Arial"/>
                <a:ea typeface="Arial"/>
                <a:cs typeface="Arial"/>
                <a:sym typeface="Arial"/>
              </a:rPr>
              <a:t>Member of FKM – Mechanical</a:t>
            </a:r>
            <a:br>
              <a:rPr lang="es-419" sz="1200">
                <a:solidFill>
                  <a:srgbClr val="7F94A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419" sz="1200">
                <a:solidFill>
                  <a:srgbClr val="7F94AA"/>
                </a:solidFill>
                <a:latin typeface="Arial"/>
                <a:ea typeface="Arial"/>
                <a:cs typeface="Arial"/>
                <a:sym typeface="Arial"/>
              </a:rPr>
              <a:t>Engineering Research Federation | managed by VDMA</a:t>
            </a:r>
            <a:endParaRPr sz="1100"/>
          </a:p>
          <a:p>
            <a:pPr marL="0" marR="0" lvl="0" indent="0" algn="r" rtl="0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  <a:buClr>
                <a:srgbClr val="7F94AA"/>
              </a:buClr>
              <a:buSzPts val="1200"/>
              <a:buFont typeface="Arial"/>
              <a:buNone/>
            </a:pPr>
            <a:r>
              <a:rPr lang="es-419" sz="1200">
                <a:solidFill>
                  <a:srgbClr val="7F94AA"/>
                </a:solidFill>
                <a:latin typeface="Arial"/>
                <a:ea typeface="Arial"/>
                <a:cs typeface="Arial"/>
                <a:sym typeface="Arial"/>
              </a:rPr>
              <a:t>Certified by Stifterverband | Promoting Education, Science &amp; Innovation</a:t>
            </a:r>
            <a:endParaRPr sz="1100"/>
          </a:p>
        </p:txBody>
      </p:sp>
      <p:sp>
        <p:nvSpPr>
          <p:cNvPr id="88" name="Google Shape;88;p20"/>
          <p:cNvSpPr txBox="1"/>
          <p:nvPr/>
        </p:nvSpPr>
        <p:spPr>
          <a:xfrm>
            <a:off x="2891024" y="1943828"/>
            <a:ext cx="4953451" cy="96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FVV eV</a:t>
            </a:r>
            <a:b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Lyoner Strasse 18 | 60528 Frankfurt / Main | Germany</a:t>
            </a:r>
            <a:b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+ 49 69 6603 1345 | info@fvv-net.de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www.fvv-net.de/en</a:t>
            </a:r>
            <a:endParaRPr sz="1100"/>
          </a:p>
        </p:txBody>
      </p:sp>
      <p:pic>
        <p:nvPicPr>
          <p:cNvPr id="89" name="Google Shape;8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554" y="4438112"/>
            <a:ext cx="368689" cy="38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5553" y="3958117"/>
            <a:ext cx="368689" cy="368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938">
          <p15:clr>
            <a:srgbClr val="FBAE40"/>
          </p15:clr>
        </p15:guide>
        <p15:guide id="2" orient="horz" pos="303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3ABBFB8A-BF0A-DCEC-4FF3-AD07D3FC6438}"/>
              </a:ext>
            </a:extLst>
          </p:cNvPr>
          <p:cNvGrpSpPr/>
          <p:nvPr userDrawn="1"/>
        </p:nvGrpSpPr>
        <p:grpSpPr>
          <a:xfrm>
            <a:off x="0" y="3795135"/>
            <a:ext cx="9405259" cy="1385046"/>
            <a:chOff x="-1" y="3331030"/>
            <a:chExt cx="9405259" cy="3536722"/>
          </a:xfrm>
        </p:grpSpPr>
        <p:sp>
          <p:nvSpPr>
            <p:cNvPr id="33" name="Right Triangle 32">
              <a:extLst>
                <a:ext uri="{FF2B5EF4-FFF2-40B4-BE49-F238E27FC236}">
                  <a16:creationId xmlns:a16="http://schemas.microsoft.com/office/drawing/2014/main" id="{13F3E78B-C5A1-A49A-80BE-7552CC4ED60B}"/>
                </a:ext>
              </a:extLst>
            </p:cNvPr>
            <p:cNvSpPr/>
            <p:nvPr userDrawn="1"/>
          </p:nvSpPr>
          <p:spPr>
            <a:xfrm>
              <a:off x="-1" y="3331030"/>
              <a:ext cx="9405258" cy="3536722"/>
            </a:xfrm>
            <a:prstGeom prst="rtTriangle">
              <a:avLst/>
            </a:prstGeom>
            <a:solidFill>
              <a:srgbClr val="418E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pic>
          <p:nvPicPr>
            <p:cNvPr id="34" name="Google Shape;15;p19" descr="screen2.png">
              <a:extLst>
                <a:ext uri="{FF2B5EF4-FFF2-40B4-BE49-F238E27FC236}">
                  <a16:creationId xmlns:a16="http://schemas.microsoft.com/office/drawing/2014/main" id="{A0984A87-046F-8135-CB9E-BB71943D9766}"/>
                </a:ext>
              </a:extLst>
            </p:cNvPr>
            <p:cNvPicPr preferRelativeResize="0"/>
            <p:nvPr userDrawn="1"/>
          </p:nvPicPr>
          <p:blipFill rotWithShape="1">
            <a:blip r:embed="rId2">
              <a:alphaModFix amt="70000"/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9073"/>
                      </a14:imgEffect>
                      <a14:imgEffect>
                        <a14:saturation sat="177000"/>
                      </a14:imgEffect>
                      <a14:imgEffect>
                        <a14:brightnessContrast bright="6000" contrast="42000"/>
                      </a14:imgEffect>
                    </a14:imgLayer>
                  </a14:imgProps>
                </a:ext>
              </a:extLst>
            </a:blip>
            <a:srcRect t="24002" r="62752" b="21641"/>
            <a:stretch/>
          </p:blipFill>
          <p:spPr>
            <a:xfrm>
              <a:off x="0" y="3331030"/>
              <a:ext cx="9405258" cy="3536722"/>
            </a:xfrm>
            <a:prstGeom prst="rtTriangle">
              <a:avLst/>
            </a:prstGeom>
            <a:noFill/>
            <a:ln>
              <a:noFill/>
            </a:ln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7105A3-7098-FB09-55C3-FDDAC15A2847}"/>
              </a:ext>
            </a:extLst>
          </p:cNvPr>
          <p:cNvGrpSpPr/>
          <p:nvPr userDrawn="1"/>
        </p:nvGrpSpPr>
        <p:grpSpPr>
          <a:xfrm>
            <a:off x="6016586" y="1368"/>
            <a:ext cx="3686175" cy="5150813"/>
            <a:chOff x="7946571" y="6044054"/>
            <a:chExt cx="1197429" cy="813946"/>
          </a:xfrm>
        </p:grpSpPr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A3C24164-9BC4-7A7A-6652-67C2243AF134}"/>
                </a:ext>
              </a:extLst>
            </p:cNvPr>
            <p:cNvSpPr/>
            <p:nvPr userDrawn="1"/>
          </p:nvSpPr>
          <p:spPr>
            <a:xfrm>
              <a:off x="7946571" y="6044054"/>
              <a:ext cx="1197429" cy="813946"/>
            </a:xfrm>
            <a:prstGeom prst="triangle">
              <a:avLst>
                <a:gd name="adj" fmla="val 5765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5B223DB-00CF-5A50-8726-BBB277A44C4E}"/>
                </a:ext>
              </a:extLst>
            </p:cNvPr>
            <p:cNvCxnSpPr>
              <a:cxnSpLocks/>
              <a:stCxn id="36" idx="0"/>
              <a:endCxn id="36" idx="2"/>
            </p:cNvCxnSpPr>
            <p:nvPr userDrawn="1"/>
          </p:nvCxnSpPr>
          <p:spPr>
            <a:xfrm flipH="1">
              <a:off x="7946571" y="6044054"/>
              <a:ext cx="690342" cy="813946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Subtitle 2">
            <a:extLst>
              <a:ext uri="{FF2B5EF4-FFF2-40B4-BE49-F238E27FC236}">
                <a16:creationId xmlns:a16="http://schemas.microsoft.com/office/drawing/2014/main" id="{409C9B47-3FFB-BEE0-FE33-5FB222605C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7940" y="2048873"/>
            <a:ext cx="6304028" cy="703229"/>
          </a:xfrm>
        </p:spPr>
        <p:txBody>
          <a:bodyPr anchor="b">
            <a:normAutofit/>
          </a:bodyPr>
          <a:lstStyle>
            <a:lvl1pPr marL="0" indent="0" algn="ctr">
              <a:buNone/>
              <a:defRPr sz="1500" b="1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Authors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BDED1F9A-310D-7B34-68EA-856BE76FE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940" y="781984"/>
            <a:ext cx="6304028" cy="1180823"/>
          </a:xfrm>
        </p:spPr>
        <p:txBody>
          <a:bodyPr anchor="b">
            <a:normAutofit/>
          </a:bodyPr>
          <a:lstStyle>
            <a:lvl1pPr algn="ctr">
              <a:defRPr sz="33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3" name="Text Placeholder 31">
            <a:extLst>
              <a:ext uri="{FF2B5EF4-FFF2-40B4-BE49-F238E27FC236}">
                <a16:creationId xmlns:a16="http://schemas.microsoft.com/office/drawing/2014/main" id="{E0C9290E-C775-320E-6130-F45685A98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7828" y="2846939"/>
            <a:ext cx="6304027" cy="182166"/>
          </a:xfrm>
        </p:spPr>
        <p:txBody>
          <a:bodyPr>
            <a:noAutofit/>
          </a:bodyPr>
          <a:lstStyle>
            <a:lvl1pPr marL="0" indent="0" algn="ctr">
              <a:buNone/>
              <a:defRPr sz="1050">
                <a:solidFill>
                  <a:schemeClr val="accent1"/>
                </a:solidFill>
              </a:defRPr>
            </a:lvl1pPr>
            <a:lvl2pPr algn="ctr">
              <a:defRPr sz="1200">
                <a:solidFill>
                  <a:schemeClr val="accent1"/>
                </a:solidFill>
              </a:defRPr>
            </a:lvl2pPr>
            <a:lvl3pPr algn="ctr">
              <a:defRPr sz="1050">
                <a:solidFill>
                  <a:schemeClr val="accent1"/>
                </a:solidFill>
              </a:defRPr>
            </a:lvl3pPr>
            <a:lvl4pPr algn="ctr">
              <a:defRPr sz="900">
                <a:solidFill>
                  <a:schemeClr val="accent1"/>
                </a:solidFill>
              </a:defRPr>
            </a:lvl4pPr>
            <a:lvl5pPr algn="ctr"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/>
              <a:t>mail@upc.edu</a:t>
            </a:r>
            <a:endParaRPr lang="en-GB"/>
          </a:p>
        </p:txBody>
      </p:sp>
      <p:sp>
        <p:nvSpPr>
          <p:cNvPr id="44" name="Text Placeholder 31">
            <a:extLst>
              <a:ext uri="{FF2B5EF4-FFF2-40B4-BE49-F238E27FC236}">
                <a16:creationId xmlns:a16="http://schemas.microsoft.com/office/drawing/2014/main" id="{2CF64C39-0803-0BF9-F217-28FDCF3843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7828" y="3263782"/>
            <a:ext cx="6304027" cy="182166"/>
          </a:xfrm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tx1"/>
                </a:solidFill>
              </a:defRPr>
            </a:lvl1pPr>
            <a:lvl2pPr algn="ctr">
              <a:defRPr sz="1200">
                <a:solidFill>
                  <a:schemeClr val="accent1"/>
                </a:solidFill>
              </a:defRPr>
            </a:lvl2pPr>
            <a:lvl3pPr algn="ctr">
              <a:defRPr sz="1050">
                <a:solidFill>
                  <a:schemeClr val="accent1"/>
                </a:solidFill>
              </a:defRPr>
            </a:lvl3pPr>
            <a:lvl4pPr algn="ctr">
              <a:defRPr sz="900">
                <a:solidFill>
                  <a:schemeClr val="accent1"/>
                </a:solidFill>
              </a:defRPr>
            </a:lvl4pPr>
            <a:lvl5pPr algn="ctr"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err="1"/>
              <a:t>Afiliations</a:t>
            </a:r>
            <a:endParaRPr lang="en-GB"/>
          </a:p>
        </p:txBody>
      </p:sp>
      <p:pic>
        <p:nvPicPr>
          <p:cNvPr id="46" name="Picture 2">
            <a:extLst>
              <a:ext uri="{FF2B5EF4-FFF2-40B4-BE49-F238E27FC236}">
                <a16:creationId xmlns:a16="http://schemas.microsoft.com/office/drawing/2014/main" id="{37FB4712-92C0-3AEA-42E5-327C4D4C4C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893269" y="83677"/>
            <a:ext cx="1171829" cy="117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383F8D5F-4B57-0B56-43BC-248DDD0E4B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5975" y="4641204"/>
            <a:ext cx="2919238" cy="400109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chemeClr val="accent1"/>
                </a:solidFill>
              </a:defRPr>
            </a:lvl1pPr>
            <a:lvl2pPr algn="ctr">
              <a:defRPr sz="1200">
                <a:solidFill>
                  <a:schemeClr val="accent1"/>
                </a:solidFill>
              </a:defRPr>
            </a:lvl2pPr>
            <a:lvl3pPr algn="ctr">
              <a:defRPr sz="1050">
                <a:solidFill>
                  <a:schemeClr val="accent1"/>
                </a:solidFill>
              </a:defRPr>
            </a:lvl3pPr>
            <a:lvl4pPr algn="ctr">
              <a:defRPr sz="900">
                <a:solidFill>
                  <a:schemeClr val="accent1"/>
                </a:solidFill>
              </a:defRPr>
            </a:lvl4pPr>
            <a:lvl5pPr algn="ctr">
              <a:defRPr sz="900">
                <a:solidFill>
                  <a:schemeClr val="accent1"/>
                </a:solidFill>
              </a:defRPr>
            </a:lvl5pPr>
          </a:lstStyle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A7F9"/>
              </a:buClr>
              <a:buSzPts val="1600"/>
              <a:buFont typeface="Calibri"/>
              <a:buNone/>
            </a:pPr>
            <a:r>
              <a:rPr lang="es-ES" sz="1050" b="1" i="0" u="none" strike="noStrike" cap="none" noProof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Congress</a:t>
            </a:r>
            <a:r>
              <a:rPr lang="es-ES" sz="105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050" b="1" i="0" u="none" strike="noStrike" cap="none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lang="es-ES" sz="1050">
              <a:solidFill>
                <a:schemeClr val="accent1"/>
              </a:solidFill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A7F9"/>
              </a:buClr>
              <a:buSzPts val="1600"/>
              <a:buFont typeface="Calibri"/>
              <a:buNone/>
            </a:pPr>
            <a:r>
              <a:rPr lang="es-ES" sz="105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s-ES" sz="1050" b="1" i="0" u="none" strike="noStrike" cap="none" baseline="30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s-ES" sz="105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Date, </a:t>
            </a:r>
            <a:r>
              <a:rPr lang="es-ES" sz="1050" b="1" i="0" u="none" strike="noStrike" cap="none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Location</a:t>
            </a:r>
            <a:endParaRPr lang="es-ES" sz="1050">
              <a:solidFill>
                <a:schemeClr val="accen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D5A90B-8F4D-5FBB-044D-6646C9F163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b="27386"/>
          <a:stretch/>
        </p:blipFill>
        <p:spPr>
          <a:xfrm>
            <a:off x="7947423" y="1169569"/>
            <a:ext cx="1200954" cy="71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70654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44" name="Google Shape;144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51" name="Google Shape;151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1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2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3ABBFB8A-BF0A-DCEC-4FF3-AD07D3FC6438}"/>
              </a:ext>
            </a:extLst>
          </p:cNvPr>
          <p:cNvGrpSpPr/>
          <p:nvPr userDrawn="1"/>
        </p:nvGrpSpPr>
        <p:grpSpPr>
          <a:xfrm>
            <a:off x="0" y="3795135"/>
            <a:ext cx="9405259" cy="1385046"/>
            <a:chOff x="-1" y="3331030"/>
            <a:chExt cx="9405259" cy="3536722"/>
          </a:xfrm>
        </p:grpSpPr>
        <p:sp>
          <p:nvSpPr>
            <p:cNvPr id="33" name="Right Triangle 32">
              <a:extLst>
                <a:ext uri="{FF2B5EF4-FFF2-40B4-BE49-F238E27FC236}">
                  <a16:creationId xmlns:a16="http://schemas.microsoft.com/office/drawing/2014/main" id="{13F3E78B-C5A1-A49A-80BE-7552CC4ED60B}"/>
                </a:ext>
              </a:extLst>
            </p:cNvPr>
            <p:cNvSpPr/>
            <p:nvPr userDrawn="1"/>
          </p:nvSpPr>
          <p:spPr>
            <a:xfrm>
              <a:off x="-1" y="3331030"/>
              <a:ext cx="9405258" cy="3536722"/>
            </a:xfrm>
            <a:prstGeom prst="rtTriangle">
              <a:avLst/>
            </a:prstGeom>
            <a:solidFill>
              <a:srgbClr val="418E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pic>
          <p:nvPicPr>
            <p:cNvPr id="34" name="Google Shape;15;p19" descr="screen2.png">
              <a:extLst>
                <a:ext uri="{FF2B5EF4-FFF2-40B4-BE49-F238E27FC236}">
                  <a16:creationId xmlns:a16="http://schemas.microsoft.com/office/drawing/2014/main" id="{A0984A87-046F-8135-CB9E-BB71943D9766}"/>
                </a:ext>
              </a:extLst>
            </p:cNvPr>
            <p:cNvPicPr preferRelativeResize="0"/>
            <p:nvPr userDrawn="1"/>
          </p:nvPicPr>
          <p:blipFill rotWithShape="1">
            <a:blip r:embed="rId2">
              <a:alphaModFix amt="70000"/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9073"/>
                      </a14:imgEffect>
                      <a14:imgEffect>
                        <a14:saturation sat="177000"/>
                      </a14:imgEffect>
                      <a14:imgEffect>
                        <a14:brightnessContrast bright="6000" contrast="42000"/>
                      </a14:imgEffect>
                    </a14:imgLayer>
                  </a14:imgProps>
                </a:ext>
              </a:extLst>
            </a:blip>
            <a:srcRect t="24002" r="62752" b="21641"/>
            <a:stretch/>
          </p:blipFill>
          <p:spPr>
            <a:xfrm>
              <a:off x="0" y="3331030"/>
              <a:ext cx="9405258" cy="3536722"/>
            </a:xfrm>
            <a:prstGeom prst="rtTriangle">
              <a:avLst/>
            </a:prstGeom>
            <a:noFill/>
            <a:ln>
              <a:noFill/>
            </a:ln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7105A3-7098-FB09-55C3-FDDAC15A2847}"/>
              </a:ext>
            </a:extLst>
          </p:cNvPr>
          <p:cNvGrpSpPr/>
          <p:nvPr userDrawn="1"/>
        </p:nvGrpSpPr>
        <p:grpSpPr>
          <a:xfrm>
            <a:off x="6016586" y="1368"/>
            <a:ext cx="3686175" cy="5150813"/>
            <a:chOff x="7946571" y="6044054"/>
            <a:chExt cx="1197429" cy="813946"/>
          </a:xfrm>
        </p:grpSpPr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A3C24164-9BC4-7A7A-6652-67C2243AF134}"/>
                </a:ext>
              </a:extLst>
            </p:cNvPr>
            <p:cNvSpPr/>
            <p:nvPr userDrawn="1"/>
          </p:nvSpPr>
          <p:spPr>
            <a:xfrm>
              <a:off x="7946571" y="6044054"/>
              <a:ext cx="1197429" cy="813946"/>
            </a:xfrm>
            <a:prstGeom prst="triangle">
              <a:avLst>
                <a:gd name="adj" fmla="val 5765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5B223DB-00CF-5A50-8726-BBB277A44C4E}"/>
                </a:ext>
              </a:extLst>
            </p:cNvPr>
            <p:cNvCxnSpPr>
              <a:cxnSpLocks/>
              <a:stCxn id="36" idx="0"/>
              <a:endCxn id="36" idx="2"/>
            </p:cNvCxnSpPr>
            <p:nvPr userDrawn="1"/>
          </p:nvCxnSpPr>
          <p:spPr>
            <a:xfrm flipH="1">
              <a:off x="7946571" y="6044054"/>
              <a:ext cx="690342" cy="813946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Subtitle 2">
            <a:extLst>
              <a:ext uri="{FF2B5EF4-FFF2-40B4-BE49-F238E27FC236}">
                <a16:creationId xmlns:a16="http://schemas.microsoft.com/office/drawing/2014/main" id="{409C9B47-3FFB-BEE0-FE33-5FB222605C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7940" y="2048873"/>
            <a:ext cx="6304028" cy="703229"/>
          </a:xfrm>
        </p:spPr>
        <p:txBody>
          <a:bodyPr anchor="b">
            <a:normAutofit/>
          </a:bodyPr>
          <a:lstStyle>
            <a:lvl1pPr marL="0" indent="0" algn="ctr">
              <a:buNone/>
              <a:defRPr sz="1500" b="1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Authors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BDED1F9A-310D-7B34-68EA-856BE76FE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940" y="781984"/>
            <a:ext cx="6304028" cy="1180823"/>
          </a:xfrm>
        </p:spPr>
        <p:txBody>
          <a:bodyPr anchor="b">
            <a:normAutofit/>
          </a:bodyPr>
          <a:lstStyle>
            <a:lvl1pPr algn="ctr">
              <a:defRPr sz="33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3" name="Text Placeholder 31">
            <a:extLst>
              <a:ext uri="{FF2B5EF4-FFF2-40B4-BE49-F238E27FC236}">
                <a16:creationId xmlns:a16="http://schemas.microsoft.com/office/drawing/2014/main" id="{E0C9290E-C775-320E-6130-F45685A98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7828" y="2846939"/>
            <a:ext cx="6304027" cy="182166"/>
          </a:xfrm>
        </p:spPr>
        <p:txBody>
          <a:bodyPr>
            <a:noAutofit/>
          </a:bodyPr>
          <a:lstStyle>
            <a:lvl1pPr marL="0" indent="0" algn="ctr">
              <a:buNone/>
              <a:defRPr sz="1050">
                <a:solidFill>
                  <a:schemeClr val="accent1"/>
                </a:solidFill>
              </a:defRPr>
            </a:lvl1pPr>
            <a:lvl2pPr algn="ctr">
              <a:defRPr sz="1200">
                <a:solidFill>
                  <a:schemeClr val="accent1"/>
                </a:solidFill>
              </a:defRPr>
            </a:lvl2pPr>
            <a:lvl3pPr algn="ctr">
              <a:defRPr sz="1050">
                <a:solidFill>
                  <a:schemeClr val="accent1"/>
                </a:solidFill>
              </a:defRPr>
            </a:lvl3pPr>
            <a:lvl4pPr algn="ctr">
              <a:defRPr sz="900">
                <a:solidFill>
                  <a:schemeClr val="accent1"/>
                </a:solidFill>
              </a:defRPr>
            </a:lvl4pPr>
            <a:lvl5pPr algn="ctr"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/>
              <a:t>mail@upc.edu</a:t>
            </a:r>
            <a:endParaRPr lang="en-GB"/>
          </a:p>
        </p:txBody>
      </p:sp>
      <p:sp>
        <p:nvSpPr>
          <p:cNvPr id="44" name="Text Placeholder 31">
            <a:extLst>
              <a:ext uri="{FF2B5EF4-FFF2-40B4-BE49-F238E27FC236}">
                <a16:creationId xmlns:a16="http://schemas.microsoft.com/office/drawing/2014/main" id="{2CF64C39-0803-0BF9-F217-28FDCF3843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7828" y="3263782"/>
            <a:ext cx="6304027" cy="182166"/>
          </a:xfrm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tx1"/>
                </a:solidFill>
              </a:defRPr>
            </a:lvl1pPr>
            <a:lvl2pPr algn="ctr">
              <a:defRPr sz="1200">
                <a:solidFill>
                  <a:schemeClr val="accent1"/>
                </a:solidFill>
              </a:defRPr>
            </a:lvl2pPr>
            <a:lvl3pPr algn="ctr">
              <a:defRPr sz="1050">
                <a:solidFill>
                  <a:schemeClr val="accent1"/>
                </a:solidFill>
              </a:defRPr>
            </a:lvl3pPr>
            <a:lvl4pPr algn="ctr">
              <a:defRPr sz="900">
                <a:solidFill>
                  <a:schemeClr val="accent1"/>
                </a:solidFill>
              </a:defRPr>
            </a:lvl4pPr>
            <a:lvl5pPr algn="ctr"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err="1"/>
              <a:t>Afiliations</a:t>
            </a:r>
            <a:endParaRPr lang="en-GB"/>
          </a:p>
        </p:txBody>
      </p:sp>
      <p:pic>
        <p:nvPicPr>
          <p:cNvPr id="46" name="Picture 2">
            <a:extLst>
              <a:ext uri="{FF2B5EF4-FFF2-40B4-BE49-F238E27FC236}">
                <a16:creationId xmlns:a16="http://schemas.microsoft.com/office/drawing/2014/main" id="{37FB4712-92C0-3AEA-42E5-327C4D4C4C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893269" y="83677"/>
            <a:ext cx="1171829" cy="117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383F8D5F-4B57-0B56-43BC-248DDD0E4B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5975" y="4641204"/>
            <a:ext cx="2919238" cy="400109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chemeClr val="accent1"/>
                </a:solidFill>
              </a:defRPr>
            </a:lvl1pPr>
            <a:lvl2pPr algn="ctr">
              <a:defRPr sz="1200">
                <a:solidFill>
                  <a:schemeClr val="accent1"/>
                </a:solidFill>
              </a:defRPr>
            </a:lvl2pPr>
            <a:lvl3pPr algn="ctr">
              <a:defRPr sz="1050">
                <a:solidFill>
                  <a:schemeClr val="accent1"/>
                </a:solidFill>
              </a:defRPr>
            </a:lvl3pPr>
            <a:lvl4pPr algn="ctr">
              <a:defRPr sz="900">
                <a:solidFill>
                  <a:schemeClr val="accent1"/>
                </a:solidFill>
              </a:defRPr>
            </a:lvl4pPr>
            <a:lvl5pPr algn="ctr">
              <a:defRPr sz="900">
                <a:solidFill>
                  <a:schemeClr val="accent1"/>
                </a:solidFill>
              </a:defRPr>
            </a:lvl5pPr>
          </a:lstStyle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A7F9"/>
              </a:buClr>
              <a:buSzPts val="1600"/>
              <a:buFont typeface="Calibri"/>
              <a:buNone/>
            </a:pPr>
            <a:r>
              <a:rPr lang="es-ES" sz="1050" b="1" i="0" u="none" strike="noStrike" cap="none" noProof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Congress</a:t>
            </a:r>
            <a:r>
              <a:rPr lang="es-ES" sz="105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050" b="1" i="0" u="none" strike="noStrike" cap="none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lang="es-ES" sz="1050">
              <a:solidFill>
                <a:schemeClr val="accent1"/>
              </a:solidFill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A7F9"/>
              </a:buClr>
              <a:buSzPts val="1600"/>
              <a:buFont typeface="Calibri"/>
              <a:buNone/>
            </a:pPr>
            <a:r>
              <a:rPr lang="es-ES" sz="105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s-ES" sz="1050" b="1" i="0" u="none" strike="noStrike" cap="none" baseline="30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s-ES" sz="105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Date, </a:t>
            </a:r>
            <a:r>
              <a:rPr lang="es-ES" sz="1050" b="1" i="0" u="none" strike="noStrike" cap="none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Location</a:t>
            </a:r>
            <a:endParaRPr lang="es-ES" sz="1050">
              <a:solidFill>
                <a:schemeClr val="accen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D5A90B-8F4D-5FBB-044D-6646C9F163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b="27386"/>
          <a:stretch/>
        </p:blipFill>
        <p:spPr>
          <a:xfrm>
            <a:off x="7947423" y="1169569"/>
            <a:ext cx="1200954" cy="71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59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B3B65-B0EF-0AD3-F540-29FA7E24D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010E7E1-2E4A-2AF7-A522-0D5097EC2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849" y="273844"/>
            <a:ext cx="8512302" cy="75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8D42A88-5859-85ED-B7A7-639D9B6C0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5652" y="4767264"/>
            <a:ext cx="41224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accent1"/>
                </a:solidFill>
              </a:defRPr>
            </a:lvl1pPr>
          </a:lstStyle>
          <a:p>
            <a:fld id="{20B04795-0DE7-4ECC-8A35-5B225D21AD0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26168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21B0A-81A4-2087-93FB-1969B463B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849" y="1163948"/>
            <a:ext cx="4179951" cy="34687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DABB1-D67F-9180-810F-5FE965408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4" y="1163948"/>
            <a:ext cx="4179951" cy="34687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D33DCD8-C5DD-2785-4D07-0CDAE9BAF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49" y="6700"/>
            <a:ext cx="8512302" cy="75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889E9C4-CC42-5186-E20D-89B9AD700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5652" y="4767264"/>
            <a:ext cx="41224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accent1"/>
                </a:solidFill>
              </a:defRPr>
            </a:lvl1pPr>
          </a:lstStyle>
          <a:p>
            <a:fld id="{20B04795-0DE7-4ECC-8A35-5B225D21AD0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855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21B0A-81A4-2087-93FB-1969B463B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849" y="1781881"/>
            <a:ext cx="4179951" cy="285084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D33DCD8-C5DD-2785-4D07-0CDAE9BAF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849" y="273844"/>
            <a:ext cx="8512302" cy="75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8332EA4-5AC6-11F6-BC2A-B5B7873EDA5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849" y="1163948"/>
            <a:ext cx="417995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02E84F3-989F-2C7B-0946-62F764B4C4F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648204" y="1781881"/>
            <a:ext cx="4179951" cy="285084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BE4198F-5FC7-9DE5-7B3C-A34163B4CF0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659088" y="1163945"/>
            <a:ext cx="417995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16E2828-8D4B-06BB-1EFC-685C2C10B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5652" y="4767264"/>
            <a:ext cx="41224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accent1"/>
                </a:solidFill>
              </a:defRPr>
            </a:lvl1pPr>
          </a:lstStyle>
          <a:p>
            <a:fld id="{20B04795-0DE7-4ECC-8A35-5B225D21AD0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2338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A0159-3109-DA8B-38EF-2733A13AD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AB22-B1DF-44FE-9FA0-1A8E7A1141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08583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920A8-54D4-82FA-3B30-EABA2D85D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5652" y="4767264"/>
            <a:ext cx="41224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accent1"/>
                </a:solidFill>
              </a:defRPr>
            </a:lvl1pPr>
          </a:lstStyle>
          <a:p>
            <a:fld id="{20B04795-0DE7-4ECC-8A35-5B225D21AD0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94655D6-4FF9-862F-97B7-FCA3866C4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849" y="273844"/>
            <a:ext cx="8512302" cy="75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7839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22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10" Type="http://schemas.openxmlformats.org/officeDocument/2006/relationships/image" Target="../media/image10.png"/><Relationship Id="rId4" Type="http://schemas.openxmlformats.org/officeDocument/2006/relationships/slideLayout" Target="../slideLayouts/slideLayout23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528897" y="4785974"/>
            <a:ext cx="275759" cy="14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00466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00466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00466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00466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00466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00466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00466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00466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00466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2" name="Google Shape;52;p13"/>
          <p:cNvSpPr txBox="1"/>
          <p:nvPr/>
        </p:nvSpPr>
        <p:spPr>
          <a:xfrm>
            <a:off x="545668" y="4785974"/>
            <a:ext cx="7875364" cy="14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548878" y="4785973"/>
            <a:ext cx="3086100" cy="142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91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31">
          <p15:clr>
            <a:srgbClr val="F26B43"/>
          </p15:clr>
        </p15:guide>
        <p15:guide id="2" pos="34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1294D7-040B-FECF-B17D-666EF3E0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849" y="273844"/>
            <a:ext cx="8512302" cy="75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6AD9F-9615-7025-FD7D-B3FD46582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849" y="1167492"/>
            <a:ext cx="8512302" cy="3465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C128EFD-B373-5143-2283-F1FD117C8733}"/>
              </a:ext>
            </a:extLst>
          </p:cNvPr>
          <p:cNvGrpSpPr/>
          <p:nvPr userDrawn="1"/>
        </p:nvGrpSpPr>
        <p:grpSpPr>
          <a:xfrm>
            <a:off x="-11575" y="4549686"/>
            <a:ext cx="10297887" cy="611177"/>
            <a:chOff x="212598" y="4001292"/>
            <a:chExt cx="8302752" cy="681038"/>
          </a:xfrm>
        </p:grpSpPr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0515B862-5F0A-2BEC-B539-D49336EFAAB6}"/>
                </a:ext>
              </a:extLst>
            </p:cNvPr>
            <p:cNvSpPr/>
            <p:nvPr userDrawn="1"/>
          </p:nvSpPr>
          <p:spPr>
            <a:xfrm>
              <a:off x="212598" y="4001294"/>
              <a:ext cx="8302752" cy="681036"/>
            </a:xfrm>
            <a:prstGeom prst="triangle">
              <a:avLst>
                <a:gd name="adj" fmla="val 0"/>
              </a:avLst>
            </a:prstGeom>
            <a:solidFill>
              <a:srgbClr val="007B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/>
            </a:p>
          </p:txBody>
        </p:sp>
        <p:pic>
          <p:nvPicPr>
            <p:cNvPr id="7" name="Google Shape;15;p19" descr="screen2.png">
              <a:extLst>
                <a:ext uri="{FF2B5EF4-FFF2-40B4-BE49-F238E27FC236}">
                  <a16:creationId xmlns:a16="http://schemas.microsoft.com/office/drawing/2014/main" id="{C40FC632-C7E6-B2F1-6F5B-AF874A9CF786}"/>
                </a:ext>
              </a:extLst>
            </p:cNvPr>
            <p:cNvPicPr preferRelativeResize="0"/>
            <p:nvPr userDrawn="1"/>
          </p:nvPicPr>
          <p:blipFill rotWithShape="1">
            <a:blip r:embed="rId8">
              <a:alphaModFix amt="70000"/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colorTemperature colorTemp="10356"/>
                      </a14:imgEffect>
                      <a14:imgEffect>
                        <a14:saturation sat="177000"/>
                      </a14:imgEffect>
                      <a14:imgEffect>
                        <a14:brightnessContrast contrast="48000"/>
                      </a14:imgEffect>
                    </a14:imgLayer>
                  </a14:imgProps>
                </a:ext>
              </a:extLst>
            </a:blip>
            <a:srcRect t="24002" r="12635" b="21641"/>
            <a:stretch/>
          </p:blipFill>
          <p:spPr>
            <a:xfrm>
              <a:off x="212598" y="4001293"/>
              <a:ext cx="8170101" cy="681036"/>
            </a:xfrm>
            <a:prstGeom prst="triangle">
              <a:avLst>
                <a:gd name="adj" fmla="val 0"/>
              </a:avLst>
            </a:prstGeom>
            <a:noFill/>
            <a:ln>
              <a:noFill/>
            </a:ln>
          </p:spPr>
        </p:pic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7E9764E-290A-ED61-7F87-3FC253046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5652" y="4767264"/>
            <a:ext cx="41224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accent1"/>
                </a:solidFill>
              </a:defRPr>
            </a:lvl1pPr>
          </a:lstStyle>
          <a:p>
            <a:fld id="{20B04795-0DE7-4ECC-8A35-5B225D21AD06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3449989-4A84-D6C4-2126-5A6BAF8E4120}"/>
              </a:ext>
            </a:extLst>
          </p:cNvPr>
          <p:cNvGrpSpPr/>
          <p:nvPr userDrawn="1"/>
        </p:nvGrpSpPr>
        <p:grpSpPr>
          <a:xfrm>
            <a:off x="7946576" y="4533040"/>
            <a:ext cx="1197429" cy="610460"/>
            <a:chOff x="7946571" y="6044054"/>
            <a:chExt cx="1197429" cy="813946"/>
          </a:xfrm>
        </p:grpSpPr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0ABB3FE5-ED27-0ED5-5594-4E23AD04BE83}"/>
                </a:ext>
              </a:extLst>
            </p:cNvPr>
            <p:cNvSpPr/>
            <p:nvPr userDrawn="1"/>
          </p:nvSpPr>
          <p:spPr>
            <a:xfrm>
              <a:off x="7946571" y="6044054"/>
              <a:ext cx="1197429" cy="813946"/>
            </a:xfrm>
            <a:prstGeom prst="triangle">
              <a:avLst>
                <a:gd name="adj" fmla="val 1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A3A19FE-6979-1495-61E0-DF95E9A4C2DD}"/>
                </a:ext>
              </a:extLst>
            </p:cNvPr>
            <p:cNvCxnSpPr>
              <a:cxnSpLocks/>
              <a:stCxn id="10" idx="0"/>
              <a:endCxn id="10" idx="2"/>
            </p:cNvCxnSpPr>
            <p:nvPr userDrawn="1"/>
          </p:nvCxnSpPr>
          <p:spPr>
            <a:xfrm flipH="1">
              <a:off x="7946571" y="6044054"/>
              <a:ext cx="1197429" cy="813946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7B59FB0C-5B5A-93A0-42A0-75C8EA1C3D9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6" y="4627549"/>
            <a:ext cx="1072134" cy="53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786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88" r:id="rId2"/>
    <p:sldLayoutId id="2147483690" r:id="rId3"/>
    <p:sldLayoutId id="2147483699" r:id="rId4"/>
    <p:sldLayoutId id="2147483708" r:id="rId5"/>
    <p:sldLayoutId id="2147483692" r:id="rId6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microsoft.com/office/2007/relationships/hdphoto" Target="../media/hdphoto2.wdp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microsoft.com/office/2007/relationships/hdphoto" Target="../media/hdphoto2.wdp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svg"/><Relationship Id="rId7" Type="http://schemas.openxmlformats.org/officeDocument/2006/relationships/image" Target="../media/image24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jpeg"/><Relationship Id="rId4" Type="http://schemas.openxmlformats.org/officeDocument/2006/relationships/image" Target="../media/image21.jpe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microsoft.com/office/2007/relationships/hdphoto" Target="../media/hdphoto2.wdp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15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hyperlink" Target="https://www.scne.es/" TargetMode="Externa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jpeg"/><Relationship Id="rId9" Type="http://schemas.openxmlformats.org/officeDocument/2006/relationships/image" Target="../media/image34.png"/><Relationship Id="rId1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microsoft.com/office/2007/relationships/hdphoto" Target="../media/hdphoto2.wdp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microsoft.com/office/2007/relationships/hdphoto" Target="../media/hdphoto2.wdp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39.jpeg"/><Relationship Id="rId4" Type="http://schemas.openxmlformats.org/officeDocument/2006/relationships/image" Target="../media/image4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microsoft.com/office/2007/relationships/hdphoto" Target="../media/hdphoto2.wdp"/><Relationship Id="rId9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5F577AC-CE92-29D7-AD49-0FF5542BC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71" name="Google Shape;471;p62"/>
          <p:cNvSpPr txBox="1">
            <a:spLocks noGrp="1"/>
          </p:cNvSpPr>
          <p:nvPr>
            <p:ph type="subTitle" idx="1"/>
          </p:nvPr>
        </p:nvSpPr>
        <p:spPr>
          <a:xfrm>
            <a:off x="1609845" y="2092788"/>
            <a:ext cx="4641138" cy="475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l">
              <a:spcBef>
                <a:spcPts val="0"/>
              </a:spcBef>
              <a:buSzPts val="1100"/>
            </a:pPr>
            <a:r>
              <a:rPr lang="es-MX" sz="1400" b="1">
                <a:latin typeface="Times New Roman"/>
                <a:ea typeface="Times New Roman"/>
                <a:cs typeface="Times New Roman"/>
              </a:rPr>
              <a:t>Fabián Hernández¹, Ivette Rodríguez¹, Oriol Lehmkuhl²</a:t>
            </a:r>
          </a:p>
        </p:txBody>
      </p:sp>
      <p:sp>
        <p:nvSpPr>
          <p:cNvPr id="472" name="Google Shape;472;p62"/>
          <p:cNvSpPr txBox="1"/>
          <p:nvPr/>
        </p:nvSpPr>
        <p:spPr>
          <a:xfrm>
            <a:off x="170486" y="182198"/>
            <a:ext cx="7110342" cy="173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lang="es-MX" sz="3600" b="0" i="0" u="none" strike="noStrike" cap="none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Streamlining</a:t>
            </a:r>
            <a:r>
              <a:rPr lang="es-MX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Urban CFD </a:t>
            </a:r>
            <a:r>
              <a:rPr lang="es-MX" sz="3600" b="0" i="0" u="none" strike="noStrike" cap="none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Simulations</a:t>
            </a:r>
            <a:r>
              <a:rPr lang="es-MX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s-MX" sz="3600" b="0" i="0" u="none" strike="noStrike" cap="none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</a:t>
            </a:r>
            <a:r>
              <a:rPr lang="es-MX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MX" sz="3600" b="0" i="0" u="none" strike="noStrike" cap="none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</a:t>
            </a:r>
            <a:r>
              <a:rPr lang="es-MX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MX" sz="3600" b="0" i="0" u="none" strike="noStrike" cap="none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</a:t>
            </a:r>
            <a:r>
              <a:rPr lang="es-MX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MX" sz="3600" b="0" i="0" u="none" strike="noStrike" cap="none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s-MX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SOD2D </a:t>
            </a:r>
            <a:r>
              <a:rPr lang="es-MX" sz="3600" b="0" i="0" u="none" strike="noStrike" cap="none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pre-processing</a:t>
            </a:r>
            <a:endParaRPr sz="3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44931A8-D500-6D36-37E3-62124FEB46A9}"/>
              </a:ext>
            </a:extLst>
          </p:cNvPr>
          <p:cNvSpPr txBox="1"/>
          <p:nvPr/>
        </p:nvSpPr>
        <p:spPr>
          <a:xfrm>
            <a:off x="634130" y="2505205"/>
            <a:ext cx="6583991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¹ TUAREG - Turbulence and Aerodynamics Research Group, Universitat </a:t>
            </a:r>
            <a:r>
              <a:rPr lang="en-US" err="1">
                <a:latin typeface="Calibri"/>
                <a:ea typeface="Calibri"/>
                <a:cs typeface="Calibri"/>
              </a:rPr>
              <a:t>Politècnica</a:t>
            </a:r>
            <a:r>
              <a:rPr lang="en-US">
                <a:latin typeface="Calibri"/>
                <a:ea typeface="Calibri"/>
                <a:cs typeface="Calibri"/>
              </a:rPr>
              <a:t> de Catalunya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² LS-CFD – Large-Scale Computational Fluid Dynamics, 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Barcelona Supercomputing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>
            <a:extLst>
              <a:ext uri="{FF2B5EF4-FFF2-40B4-BE49-F238E27FC236}">
                <a16:creationId xmlns:a16="http://schemas.microsoft.com/office/drawing/2014/main" id="{8D0D595C-CE6F-3278-B743-8E985AA952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-2177759" y="2177760"/>
            <a:ext cx="5118308" cy="762788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3337BAF-855A-319D-D9D1-2A40E63C803B}"/>
              </a:ext>
            </a:extLst>
          </p:cNvPr>
          <p:cNvSpPr/>
          <p:nvPr/>
        </p:nvSpPr>
        <p:spPr>
          <a:xfrm>
            <a:off x="368198" y="-12702"/>
            <a:ext cx="2401861" cy="5156202"/>
          </a:xfrm>
          <a:custGeom>
            <a:avLst/>
            <a:gdLst>
              <a:gd name="connsiteX0" fmla="*/ 0 w 514350"/>
              <a:gd name="connsiteY0" fmla="*/ 139700 h 139700"/>
              <a:gd name="connsiteX1" fmla="*/ 514350 w 514350"/>
              <a:gd name="connsiteY1" fmla="*/ 0 h 13970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41913"/>
              <a:gd name="connsiteY0" fmla="*/ 142192 h 142192"/>
              <a:gd name="connsiteX1" fmla="*/ 441913 w 441913"/>
              <a:gd name="connsiteY1" fmla="*/ 0 h 142192"/>
              <a:gd name="connsiteX0" fmla="*/ 0 w 441913"/>
              <a:gd name="connsiteY0" fmla="*/ 142192 h 142192"/>
              <a:gd name="connsiteX1" fmla="*/ 441913 w 441913"/>
              <a:gd name="connsiteY1" fmla="*/ 0 h 14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1913" h="142192">
                <a:moveTo>
                  <a:pt x="0" y="142192"/>
                </a:moveTo>
                <a:cubicBezTo>
                  <a:pt x="208491" y="132138"/>
                  <a:pt x="436222" y="91909"/>
                  <a:pt x="441913" y="0"/>
                </a:cubicBezTo>
              </a:path>
            </a:pathLst>
          </a:cu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Google Shape;483;p63"/>
          <p:cNvSpPr/>
          <p:nvPr/>
        </p:nvSpPr>
        <p:spPr>
          <a:xfrm>
            <a:off x="2335416" y="310245"/>
            <a:ext cx="769500" cy="7695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84" name="Google Shape;484;p63"/>
          <p:cNvSpPr/>
          <p:nvPr/>
        </p:nvSpPr>
        <p:spPr>
          <a:xfrm>
            <a:off x="2238966" y="1216049"/>
            <a:ext cx="769500" cy="76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85" name="Google Shape;485;p63"/>
          <p:cNvSpPr/>
          <p:nvPr/>
        </p:nvSpPr>
        <p:spPr>
          <a:xfrm>
            <a:off x="1944564" y="2218928"/>
            <a:ext cx="769500" cy="769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86" name="Google Shape;486;p63"/>
          <p:cNvSpPr txBox="1"/>
          <p:nvPr/>
        </p:nvSpPr>
        <p:spPr>
          <a:xfrm>
            <a:off x="6962057" y="102337"/>
            <a:ext cx="1553293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3000"/>
              <a:buFont typeface="Open Sans"/>
              <a:buNone/>
            </a:pPr>
            <a:r>
              <a:rPr lang="en-US" sz="3000" b="1" cap="small">
                <a:solidFill>
                  <a:srgbClr val="44546A"/>
                </a:solidFill>
                <a:latin typeface="Open Sans"/>
                <a:ea typeface="Open Sans"/>
                <a:cs typeface="Open Sans"/>
                <a:sym typeface="Open Sans"/>
              </a:rPr>
              <a:t>outline</a:t>
            </a:r>
            <a:endParaRPr lang="en-US" sz="1100"/>
          </a:p>
        </p:txBody>
      </p:sp>
      <p:sp>
        <p:nvSpPr>
          <p:cNvPr id="487" name="Google Shape;487;p63"/>
          <p:cNvSpPr txBox="1"/>
          <p:nvPr/>
        </p:nvSpPr>
        <p:spPr>
          <a:xfrm>
            <a:off x="3201366" y="319920"/>
            <a:ext cx="1889923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MX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BACKGROUND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endParaRPr lang="es-419" sz="120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br>
              <a:rPr lang="es-419" sz="12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s-419" sz="1200" b="1" i="0" u="none" strike="noStrike" cap="none">
                <a:solidFill>
                  <a:srgbClr val="70AD47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9" name="Google Shape;489;p63"/>
          <p:cNvSpPr txBox="1"/>
          <p:nvPr/>
        </p:nvSpPr>
        <p:spPr>
          <a:xfrm>
            <a:off x="2772661" y="2200130"/>
            <a:ext cx="1412675" cy="253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1200" b="1" i="0" u="none" strike="noStrike" cap="non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63"/>
          <p:cNvSpPr txBox="1"/>
          <p:nvPr/>
        </p:nvSpPr>
        <p:spPr>
          <a:xfrm>
            <a:off x="3146375" y="1223539"/>
            <a:ext cx="1690369" cy="253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EXPLORATION</a:t>
            </a:r>
            <a:endParaRPr sz="1200" b="0" i="0" u="none" strike="noStrike" cap="none">
              <a:solidFill>
                <a:srgbClr val="0000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4" name="Google Shape;494;p63"/>
          <p:cNvSpPr/>
          <p:nvPr/>
        </p:nvSpPr>
        <p:spPr>
          <a:xfrm>
            <a:off x="2431866" y="406695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5" name="Google Shape;495;p63"/>
          <p:cNvSpPr/>
          <p:nvPr/>
        </p:nvSpPr>
        <p:spPr>
          <a:xfrm>
            <a:off x="2335418" y="1315677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6" name="Google Shape;496;p63"/>
          <p:cNvSpPr/>
          <p:nvPr/>
        </p:nvSpPr>
        <p:spPr>
          <a:xfrm>
            <a:off x="2031713" y="2314664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8" name="Google Shape;498;p63"/>
          <p:cNvSpPr/>
          <p:nvPr/>
        </p:nvSpPr>
        <p:spPr>
          <a:xfrm>
            <a:off x="2427975" y="1409124"/>
            <a:ext cx="391554" cy="39155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0700" tIns="10700" rIns="10700" bIns="10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ill Sans"/>
              <a:buNone/>
            </a:pPr>
            <a:endParaRPr sz="8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499" name="Google Shape;499;p63"/>
          <p:cNvSpPr/>
          <p:nvPr/>
        </p:nvSpPr>
        <p:spPr>
          <a:xfrm>
            <a:off x="2145900" y="2447572"/>
            <a:ext cx="348300" cy="28495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chemeClr val="tx1"/>
          </a:solidFill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spcFirstLastPara="1" wrap="square" lIns="10700" tIns="10700" rIns="10700" bIns="10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ill Sans"/>
              <a:buNone/>
            </a:pPr>
            <a:endParaRPr sz="8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500" name="Google Shape;500;p63"/>
          <p:cNvSpPr/>
          <p:nvPr/>
        </p:nvSpPr>
        <p:spPr>
          <a:xfrm>
            <a:off x="1565916" y="3114311"/>
            <a:ext cx="769500" cy="76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02" name="Google Shape;502;p63"/>
          <p:cNvSpPr txBox="1"/>
          <p:nvPr/>
        </p:nvSpPr>
        <p:spPr>
          <a:xfrm>
            <a:off x="2427975" y="3165873"/>
            <a:ext cx="1495500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SIMULATION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Google Shape;500;p63">
            <a:extLst>
              <a:ext uri="{FF2B5EF4-FFF2-40B4-BE49-F238E27FC236}">
                <a16:creationId xmlns:a16="http://schemas.microsoft.com/office/drawing/2014/main" id="{3F4D53CA-A694-B3BB-D1BF-528143B5BB2D}"/>
              </a:ext>
            </a:extLst>
          </p:cNvPr>
          <p:cNvSpPr/>
          <p:nvPr/>
        </p:nvSpPr>
        <p:spPr>
          <a:xfrm>
            <a:off x="1081293" y="3997763"/>
            <a:ext cx="769500" cy="76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57D325-D04F-C1A4-61AC-2D6E8A5CBE76}"/>
              </a:ext>
            </a:extLst>
          </p:cNvPr>
          <p:cNvCxnSpPr>
            <a:cxnSpLocks/>
          </p:cNvCxnSpPr>
          <p:nvPr/>
        </p:nvCxnSpPr>
        <p:spPr>
          <a:xfrm>
            <a:off x="611188" y="708147"/>
            <a:ext cx="16277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A85ADA-8E5F-3210-06D3-0E59E0ED68E3}"/>
              </a:ext>
            </a:extLst>
          </p:cNvPr>
          <p:cNvCxnSpPr>
            <a:cxnSpLocks/>
          </p:cNvCxnSpPr>
          <p:nvPr/>
        </p:nvCxnSpPr>
        <p:spPr>
          <a:xfrm>
            <a:off x="611188" y="1541758"/>
            <a:ext cx="14898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BF7667-2A51-33C6-AF5D-38B015EA5EA2}"/>
              </a:ext>
            </a:extLst>
          </p:cNvPr>
          <p:cNvCxnSpPr>
            <a:cxnSpLocks/>
          </p:cNvCxnSpPr>
          <p:nvPr/>
        </p:nvCxnSpPr>
        <p:spPr>
          <a:xfrm>
            <a:off x="604678" y="2575831"/>
            <a:ext cx="1181867" cy="4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8D2CE0C-C413-CC16-5806-02478203FAE0}"/>
              </a:ext>
            </a:extLst>
          </p:cNvPr>
          <p:cNvCxnSpPr>
            <a:cxnSpLocks/>
          </p:cNvCxnSpPr>
          <p:nvPr/>
        </p:nvCxnSpPr>
        <p:spPr>
          <a:xfrm>
            <a:off x="611188" y="3499061"/>
            <a:ext cx="7867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A3184E-B296-347E-AB3E-665E69640F02}"/>
              </a:ext>
            </a:extLst>
          </p:cNvPr>
          <p:cNvCxnSpPr>
            <a:cxnSpLocks/>
          </p:cNvCxnSpPr>
          <p:nvPr/>
        </p:nvCxnSpPr>
        <p:spPr>
          <a:xfrm>
            <a:off x="611188" y="4379460"/>
            <a:ext cx="3703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Google Shape;494;p63">
            <a:extLst>
              <a:ext uri="{FF2B5EF4-FFF2-40B4-BE49-F238E27FC236}">
                <a16:creationId xmlns:a16="http://schemas.microsoft.com/office/drawing/2014/main" id="{19F43CB3-62F8-632D-BAAA-8D5B577E5325}"/>
              </a:ext>
            </a:extLst>
          </p:cNvPr>
          <p:cNvSpPr/>
          <p:nvPr/>
        </p:nvSpPr>
        <p:spPr>
          <a:xfrm>
            <a:off x="1662366" y="3207479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4" name="Google Shape;494;p63">
            <a:extLst>
              <a:ext uri="{FF2B5EF4-FFF2-40B4-BE49-F238E27FC236}">
                <a16:creationId xmlns:a16="http://schemas.microsoft.com/office/drawing/2014/main" id="{342C1B56-210C-B965-9193-CFEBFC6DE8EA}"/>
              </a:ext>
            </a:extLst>
          </p:cNvPr>
          <p:cNvSpPr/>
          <p:nvPr/>
        </p:nvSpPr>
        <p:spPr>
          <a:xfrm>
            <a:off x="1177743" y="4095146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" name="Google Shape;492;p63">
            <a:extLst>
              <a:ext uri="{FF2B5EF4-FFF2-40B4-BE49-F238E27FC236}">
                <a16:creationId xmlns:a16="http://schemas.microsoft.com/office/drawing/2014/main" id="{E1463179-C317-5959-837F-37480CB0C876}"/>
              </a:ext>
            </a:extLst>
          </p:cNvPr>
          <p:cNvSpPr txBox="1"/>
          <p:nvPr/>
        </p:nvSpPr>
        <p:spPr>
          <a:xfrm>
            <a:off x="1947086" y="4121322"/>
            <a:ext cx="1690369" cy="253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FUTURE WORK</a:t>
            </a:r>
            <a:endParaRPr sz="1200" b="0" i="0" u="none" strike="noStrike" cap="none">
              <a:solidFill>
                <a:srgbClr val="0000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39" name="Graphic 38" descr="City outline">
            <a:extLst>
              <a:ext uri="{FF2B5EF4-FFF2-40B4-BE49-F238E27FC236}">
                <a16:creationId xmlns:a16="http://schemas.microsoft.com/office/drawing/2014/main" id="{82DF4469-E9B9-79F3-1EF5-045D48D5E5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61673" y="411033"/>
            <a:ext cx="514067" cy="514067"/>
          </a:xfrm>
          <a:prstGeom prst="rect">
            <a:avLst/>
          </a:prstGeom>
        </p:spPr>
      </p:pic>
      <p:pic>
        <p:nvPicPr>
          <p:cNvPr id="41" name="Graphic 40" descr="Future with solid fill">
            <a:extLst>
              <a:ext uri="{FF2B5EF4-FFF2-40B4-BE49-F238E27FC236}">
                <a16:creationId xmlns:a16="http://schemas.microsoft.com/office/drawing/2014/main" id="{67C5DBC3-FD4F-9036-4ABC-608103BC4A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2816" y="4146233"/>
            <a:ext cx="466453" cy="466453"/>
          </a:xfrm>
          <a:prstGeom prst="rect">
            <a:avLst/>
          </a:prstGeom>
        </p:spPr>
      </p:pic>
      <p:pic>
        <p:nvPicPr>
          <p:cNvPr id="43" name="Graphic 42" descr="Windy with solid fill">
            <a:extLst>
              <a:ext uri="{FF2B5EF4-FFF2-40B4-BE49-F238E27FC236}">
                <a16:creationId xmlns:a16="http://schemas.microsoft.com/office/drawing/2014/main" id="{25247576-E7E6-7028-CAB3-C58EC8258B9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36326" y="3187540"/>
            <a:ext cx="616477" cy="616477"/>
          </a:xfrm>
          <a:prstGeom prst="rect">
            <a:avLst/>
          </a:prstGeom>
        </p:spPr>
      </p:pic>
      <p:sp>
        <p:nvSpPr>
          <p:cNvPr id="10" name="Google Shape;490;p63">
            <a:extLst>
              <a:ext uri="{FF2B5EF4-FFF2-40B4-BE49-F238E27FC236}">
                <a16:creationId xmlns:a16="http://schemas.microsoft.com/office/drawing/2014/main" id="{A1A0A945-5B9E-DD8B-644A-D0CB073D108F}"/>
              </a:ext>
            </a:extLst>
          </p:cNvPr>
          <p:cNvSpPr txBox="1"/>
          <p:nvPr/>
        </p:nvSpPr>
        <p:spPr>
          <a:xfrm>
            <a:off x="2744013" y="2497382"/>
            <a:ext cx="5652348" cy="99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s-419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City4CFD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s-419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ANSA scripting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493;p63">
            <a:extLst>
              <a:ext uri="{FF2B5EF4-FFF2-40B4-BE49-F238E27FC236}">
                <a16:creationId xmlns:a16="http://schemas.microsoft.com/office/drawing/2014/main" id="{2F450518-B145-9757-6DF4-8D5CF9EF8161}"/>
              </a:ext>
            </a:extLst>
          </p:cNvPr>
          <p:cNvSpPr txBox="1"/>
          <p:nvPr/>
        </p:nvSpPr>
        <p:spPr>
          <a:xfrm>
            <a:off x="3146373" y="1431300"/>
            <a:ext cx="4426819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City4CFD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Open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source</a:t>
            </a: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datasets</a:t>
            </a:r>
            <a:endParaRPr kumimoji="0" lang="es-MX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" name="Google Shape;493;p63">
            <a:extLst>
              <a:ext uri="{FF2B5EF4-FFF2-40B4-BE49-F238E27FC236}">
                <a16:creationId xmlns:a16="http://schemas.microsoft.com/office/drawing/2014/main" id="{8178E01A-8C57-BBA3-5349-47DE70632AAF}"/>
              </a:ext>
            </a:extLst>
          </p:cNvPr>
          <p:cNvSpPr txBox="1"/>
          <p:nvPr/>
        </p:nvSpPr>
        <p:spPr>
          <a:xfrm>
            <a:off x="1944564" y="4291480"/>
            <a:ext cx="4426819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FLIC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6" name="Google Shape;490;p63">
            <a:extLst>
              <a:ext uri="{FF2B5EF4-FFF2-40B4-BE49-F238E27FC236}">
                <a16:creationId xmlns:a16="http://schemas.microsoft.com/office/drawing/2014/main" id="{A2299117-1887-41AA-9D10-3571C5D3FBEA}"/>
              </a:ext>
            </a:extLst>
          </p:cNvPr>
          <p:cNvSpPr txBox="1"/>
          <p:nvPr/>
        </p:nvSpPr>
        <p:spPr>
          <a:xfrm>
            <a:off x="2488138" y="3365888"/>
            <a:ext cx="2073950" cy="117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CEDVAL case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Monterrey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endParaRPr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Terrassa case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8" name="Google Shape;493;p63">
            <a:extLst>
              <a:ext uri="{FF2B5EF4-FFF2-40B4-BE49-F238E27FC236}">
                <a16:creationId xmlns:a16="http://schemas.microsoft.com/office/drawing/2014/main" id="{8A32028E-575B-8E47-8524-B9D11AB4959B}"/>
              </a:ext>
            </a:extLst>
          </p:cNvPr>
          <p:cNvSpPr txBox="1"/>
          <p:nvPr/>
        </p:nvSpPr>
        <p:spPr>
          <a:xfrm>
            <a:off x="3201366" y="547285"/>
            <a:ext cx="4426819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Expansion</a:t>
            </a: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</a:t>
            </a: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Digital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Twins</a:t>
            </a:r>
            <a:endParaRPr kumimoji="0" lang="es-MX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426FA08-A168-FC0E-B535-E00CE897D4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419"/>
              <a:t>2</a:t>
            </a:fld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>
          <a:extLst>
            <a:ext uri="{FF2B5EF4-FFF2-40B4-BE49-F238E27FC236}">
              <a16:creationId xmlns:a16="http://schemas.microsoft.com/office/drawing/2014/main" id="{61BA26CD-82C9-63EA-2A52-CAE062936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B11EE8-BF4D-4F77-46F0-4339CDE6449C}"/>
              </a:ext>
            </a:extLst>
          </p:cNvPr>
          <p:cNvSpPr/>
          <p:nvPr/>
        </p:nvSpPr>
        <p:spPr>
          <a:xfrm>
            <a:off x="3201366" y="319920"/>
            <a:ext cx="1223878" cy="2388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DC62B67-05F5-6EC2-7E0D-B1043BD93D9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-2177759" y="2177760"/>
            <a:ext cx="5118308" cy="762788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441D79E-6DE9-F734-97F2-3611D774207E}"/>
              </a:ext>
            </a:extLst>
          </p:cNvPr>
          <p:cNvSpPr/>
          <p:nvPr/>
        </p:nvSpPr>
        <p:spPr>
          <a:xfrm>
            <a:off x="368198" y="-12702"/>
            <a:ext cx="2401861" cy="5156202"/>
          </a:xfrm>
          <a:custGeom>
            <a:avLst/>
            <a:gdLst>
              <a:gd name="connsiteX0" fmla="*/ 0 w 514350"/>
              <a:gd name="connsiteY0" fmla="*/ 139700 h 139700"/>
              <a:gd name="connsiteX1" fmla="*/ 514350 w 514350"/>
              <a:gd name="connsiteY1" fmla="*/ 0 h 13970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41913"/>
              <a:gd name="connsiteY0" fmla="*/ 142192 h 142192"/>
              <a:gd name="connsiteX1" fmla="*/ 441913 w 441913"/>
              <a:gd name="connsiteY1" fmla="*/ 0 h 142192"/>
              <a:gd name="connsiteX0" fmla="*/ 0 w 441913"/>
              <a:gd name="connsiteY0" fmla="*/ 142192 h 142192"/>
              <a:gd name="connsiteX1" fmla="*/ 441913 w 441913"/>
              <a:gd name="connsiteY1" fmla="*/ 0 h 14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1913" h="142192">
                <a:moveTo>
                  <a:pt x="0" y="142192"/>
                </a:moveTo>
                <a:cubicBezTo>
                  <a:pt x="208491" y="132138"/>
                  <a:pt x="436222" y="91909"/>
                  <a:pt x="441913" y="0"/>
                </a:cubicBezTo>
              </a:path>
            </a:pathLst>
          </a:cu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83" name="Google Shape;483;p63">
            <a:extLst>
              <a:ext uri="{FF2B5EF4-FFF2-40B4-BE49-F238E27FC236}">
                <a16:creationId xmlns:a16="http://schemas.microsoft.com/office/drawing/2014/main" id="{2D129C4F-3863-CE73-9B0D-3E700F8D5F55}"/>
              </a:ext>
            </a:extLst>
          </p:cNvPr>
          <p:cNvSpPr/>
          <p:nvPr/>
        </p:nvSpPr>
        <p:spPr>
          <a:xfrm>
            <a:off x="2335416" y="310245"/>
            <a:ext cx="769500" cy="7695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84" name="Google Shape;484;p63">
            <a:extLst>
              <a:ext uri="{FF2B5EF4-FFF2-40B4-BE49-F238E27FC236}">
                <a16:creationId xmlns:a16="http://schemas.microsoft.com/office/drawing/2014/main" id="{5C665D14-19C6-CC8F-0F8F-E93D2C03FC31}"/>
              </a:ext>
            </a:extLst>
          </p:cNvPr>
          <p:cNvSpPr/>
          <p:nvPr/>
        </p:nvSpPr>
        <p:spPr>
          <a:xfrm>
            <a:off x="2238966" y="1216049"/>
            <a:ext cx="769500" cy="76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85" name="Google Shape;485;p63">
            <a:extLst>
              <a:ext uri="{FF2B5EF4-FFF2-40B4-BE49-F238E27FC236}">
                <a16:creationId xmlns:a16="http://schemas.microsoft.com/office/drawing/2014/main" id="{844D310D-0385-A614-67CD-96F8B6982D09}"/>
              </a:ext>
            </a:extLst>
          </p:cNvPr>
          <p:cNvSpPr/>
          <p:nvPr/>
        </p:nvSpPr>
        <p:spPr>
          <a:xfrm>
            <a:off x="1944564" y="2218928"/>
            <a:ext cx="769500" cy="769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86" name="Google Shape;486;p63">
            <a:extLst>
              <a:ext uri="{FF2B5EF4-FFF2-40B4-BE49-F238E27FC236}">
                <a16:creationId xmlns:a16="http://schemas.microsoft.com/office/drawing/2014/main" id="{798EC6D6-79FA-F7AF-EB27-E6DF77166BB8}"/>
              </a:ext>
            </a:extLst>
          </p:cNvPr>
          <p:cNvSpPr txBox="1"/>
          <p:nvPr/>
        </p:nvSpPr>
        <p:spPr>
          <a:xfrm>
            <a:off x="6962057" y="102337"/>
            <a:ext cx="1553293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3000"/>
              <a:buFont typeface="Open Sans"/>
              <a:buNone/>
              <a:tabLst/>
              <a:defRPr/>
            </a:pPr>
            <a:r>
              <a:rPr kumimoji="0" lang="en-US" sz="3000" b="1" i="0" u="none" strike="noStrike" kern="0" cap="small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outline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87" name="Google Shape;487;p63">
            <a:extLst>
              <a:ext uri="{FF2B5EF4-FFF2-40B4-BE49-F238E27FC236}">
                <a16:creationId xmlns:a16="http://schemas.microsoft.com/office/drawing/2014/main" id="{FF71A1B9-425A-863C-1E08-2ACF854F83E3}"/>
              </a:ext>
            </a:extLst>
          </p:cNvPr>
          <p:cNvSpPr txBox="1"/>
          <p:nvPr/>
        </p:nvSpPr>
        <p:spPr>
          <a:xfrm>
            <a:off x="3201366" y="319920"/>
            <a:ext cx="1889923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  <a:tabLst/>
              <a:defRPr/>
            </a:pPr>
            <a:r>
              <a:rPr kumimoji="0" lang="es-MX" sz="1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BACKGROUND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  <a:tabLst/>
              <a:defRPr/>
            </a:pPr>
            <a:endParaRPr kumimoji="0" lang="es-419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br>
              <a:rPr kumimoji="0" lang="es-419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kumimoji="0" lang="es-419" sz="1200" b="1" i="0" u="none" strike="noStrike" kern="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89" name="Google Shape;489;p63">
            <a:extLst>
              <a:ext uri="{FF2B5EF4-FFF2-40B4-BE49-F238E27FC236}">
                <a16:creationId xmlns:a16="http://schemas.microsoft.com/office/drawing/2014/main" id="{BDCF1130-0608-BB56-5758-02303F29F37E}"/>
              </a:ext>
            </a:extLst>
          </p:cNvPr>
          <p:cNvSpPr txBox="1"/>
          <p:nvPr/>
        </p:nvSpPr>
        <p:spPr>
          <a:xfrm>
            <a:off x="2772661" y="2200130"/>
            <a:ext cx="1412675" cy="253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  <a:tabLst/>
              <a:defRPr/>
            </a:pPr>
            <a:r>
              <a:rPr kumimoji="0" lang="es-419" sz="1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63">
            <a:extLst>
              <a:ext uri="{FF2B5EF4-FFF2-40B4-BE49-F238E27FC236}">
                <a16:creationId xmlns:a16="http://schemas.microsoft.com/office/drawing/2014/main" id="{6D0E0CA7-E53E-435D-F6C3-25B2992C5E20}"/>
              </a:ext>
            </a:extLst>
          </p:cNvPr>
          <p:cNvSpPr txBox="1"/>
          <p:nvPr/>
        </p:nvSpPr>
        <p:spPr>
          <a:xfrm>
            <a:off x="3146375" y="1223539"/>
            <a:ext cx="1690369" cy="253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  <a:tabLst/>
              <a:defRPr/>
            </a:pPr>
            <a:r>
              <a:rPr kumimoji="0" lang="es-419" sz="1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EXPLORATION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4" name="Google Shape;494;p63">
            <a:extLst>
              <a:ext uri="{FF2B5EF4-FFF2-40B4-BE49-F238E27FC236}">
                <a16:creationId xmlns:a16="http://schemas.microsoft.com/office/drawing/2014/main" id="{2E81B6CB-DB5D-F5AB-CD19-2588DF002F54}"/>
              </a:ext>
            </a:extLst>
          </p:cNvPr>
          <p:cNvSpPr/>
          <p:nvPr/>
        </p:nvSpPr>
        <p:spPr>
          <a:xfrm>
            <a:off x="2431866" y="406695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5" name="Google Shape;495;p63">
            <a:extLst>
              <a:ext uri="{FF2B5EF4-FFF2-40B4-BE49-F238E27FC236}">
                <a16:creationId xmlns:a16="http://schemas.microsoft.com/office/drawing/2014/main" id="{A2285C6F-9233-9F25-1DEF-40F9C5021747}"/>
              </a:ext>
            </a:extLst>
          </p:cNvPr>
          <p:cNvSpPr/>
          <p:nvPr/>
        </p:nvSpPr>
        <p:spPr>
          <a:xfrm>
            <a:off x="2335418" y="1315677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6" name="Google Shape;496;p63">
            <a:extLst>
              <a:ext uri="{FF2B5EF4-FFF2-40B4-BE49-F238E27FC236}">
                <a16:creationId xmlns:a16="http://schemas.microsoft.com/office/drawing/2014/main" id="{1F7EF406-7D21-B86D-FCC0-75BDDB3A9769}"/>
              </a:ext>
            </a:extLst>
          </p:cNvPr>
          <p:cNvSpPr/>
          <p:nvPr/>
        </p:nvSpPr>
        <p:spPr>
          <a:xfrm>
            <a:off x="2031713" y="2314664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8" name="Google Shape;498;p63">
            <a:extLst>
              <a:ext uri="{FF2B5EF4-FFF2-40B4-BE49-F238E27FC236}">
                <a16:creationId xmlns:a16="http://schemas.microsoft.com/office/drawing/2014/main" id="{63A918EF-72E2-901D-93EC-3B36E9D89190}"/>
              </a:ext>
            </a:extLst>
          </p:cNvPr>
          <p:cNvSpPr/>
          <p:nvPr/>
        </p:nvSpPr>
        <p:spPr>
          <a:xfrm>
            <a:off x="2427975" y="1409124"/>
            <a:ext cx="391554" cy="39155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0700" tIns="10700" rIns="10700" bIns="10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ill Sans"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499" name="Google Shape;499;p63">
            <a:extLst>
              <a:ext uri="{FF2B5EF4-FFF2-40B4-BE49-F238E27FC236}">
                <a16:creationId xmlns:a16="http://schemas.microsoft.com/office/drawing/2014/main" id="{8F32D342-7CB7-79B3-83F0-000A0BAEE438}"/>
              </a:ext>
            </a:extLst>
          </p:cNvPr>
          <p:cNvSpPr/>
          <p:nvPr/>
        </p:nvSpPr>
        <p:spPr>
          <a:xfrm>
            <a:off x="2145900" y="2447572"/>
            <a:ext cx="348300" cy="28495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chemeClr val="tx1"/>
          </a:solidFill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spcFirstLastPara="1" wrap="square" lIns="10700" tIns="10700" rIns="10700" bIns="10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ill Sans"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500" name="Google Shape;500;p63">
            <a:extLst>
              <a:ext uri="{FF2B5EF4-FFF2-40B4-BE49-F238E27FC236}">
                <a16:creationId xmlns:a16="http://schemas.microsoft.com/office/drawing/2014/main" id="{1E69960D-4259-9F0A-F030-8D5BA5393A19}"/>
              </a:ext>
            </a:extLst>
          </p:cNvPr>
          <p:cNvSpPr/>
          <p:nvPr/>
        </p:nvSpPr>
        <p:spPr>
          <a:xfrm>
            <a:off x="1565916" y="3114311"/>
            <a:ext cx="769500" cy="76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02" name="Google Shape;502;p63">
            <a:extLst>
              <a:ext uri="{FF2B5EF4-FFF2-40B4-BE49-F238E27FC236}">
                <a16:creationId xmlns:a16="http://schemas.microsoft.com/office/drawing/2014/main" id="{67954683-D51B-EDB2-6743-A90D319238B0}"/>
              </a:ext>
            </a:extLst>
          </p:cNvPr>
          <p:cNvSpPr txBox="1"/>
          <p:nvPr/>
        </p:nvSpPr>
        <p:spPr>
          <a:xfrm>
            <a:off x="2427975" y="3165873"/>
            <a:ext cx="1495500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  <a:tabLst/>
              <a:defRPr/>
            </a:pPr>
            <a:r>
              <a:rPr kumimoji="0" lang="es-419" sz="1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SIMULATION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1" name="Google Shape;500;p63">
            <a:extLst>
              <a:ext uri="{FF2B5EF4-FFF2-40B4-BE49-F238E27FC236}">
                <a16:creationId xmlns:a16="http://schemas.microsoft.com/office/drawing/2014/main" id="{683BA205-4760-1001-9328-AD36A1519523}"/>
              </a:ext>
            </a:extLst>
          </p:cNvPr>
          <p:cNvSpPr/>
          <p:nvPr/>
        </p:nvSpPr>
        <p:spPr>
          <a:xfrm>
            <a:off x="1081293" y="3997763"/>
            <a:ext cx="769500" cy="76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221F9D-EE24-2E4A-1EBA-E03B531B7C49}"/>
              </a:ext>
            </a:extLst>
          </p:cNvPr>
          <p:cNvCxnSpPr>
            <a:cxnSpLocks/>
          </p:cNvCxnSpPr>
          <p:nvPr/>
        </p:nvCxnSpPr>
        <p:spPr>
          <a:xfrm>
            <a:off x="611188" y="1541758"/>
            <a:ext cx="14898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EF38456-94F1-545D-93BF-E21347B1C141}"/>
              </a:ext>
            </a:extLst>
          </p:cNvPr>
          <p:cNvCxnSpPr>
            <a:cxnSpLocks/>
          </p:cNvCxnSpPr>
          <p:nvPr/>
        </p:nvCxnSpPr>
        <p:spPr>
          <a:xfrm>
            <a:off x="604678" y="2575831"/>
            <a:ext cx="1181867" cy="4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1AEC72C-0411-A461-50E9-A03984DD21CF}"/>
              </a:ext>
            </a:extLst>
          </p:cNvPr>
          <p:cNvCxnSpPr>
            <a:cxnSpLocks/>
          </p:cNvCxnSpPr>
          <p:nvPr/>
        </p:nvCxnSpPr>
        <p:spPr>
          <a:xfrm>
            <a:off x="611188" y="3499061"/>
            <a:ext cx="7867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2B7FB47-355E-AC25-056B-F8F097A15479}"/>
              </a:ext>
            </a:extLst>
          </p:cNvPr>
          <p:cNvCxnSpPr>
            <a:cxnSpLocks/>
          </p:cNvCxnSpPr>
          <p:nvPr/>
        </p:nvCxnSpPr>
        <p:spPr>
          <a:xfrm>
            <a:off x="611188" y="4379460"/>
            <a:ext cx="3703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Google Shape;494;p63">
            <a:extLst>
              <a:ext uri="{FF2B5EF4-FFF2-40B4-BE49-F238E27FC236}">
                <a16:creationId xmlns:a16="http://schemas.microsoft.com/office/drawing/2014/main" id="{076271C4-6514-ECCB-5137-E94B14DF2D7B}"/>
              </a:ext>
            </a:extLst>
          </p:cNvPr>
          <p:cNvSpPr/>
          <p:nvPr/>
        </p:nvSpPr>
        <p:spPr>
          <a:xfrm>
            <a:off x="1662366" y="3207479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4" name="Google Shape;494;p63">
            <a:extLst>
              <a:ext uri="{FF2B5EF4-FFF2-40B4-BE49-F238E27FC236}">
                <a16:creationId xmlns:a16="http://schemas.microsoft.com/office/drawing/2014/main" id="{36B5FDF8-4284-CEF3-1B3F-DD3F94267430}"/>
              </a:ext>
            </a:extLst>
          </p:cNvPr>
          <p:cNvSpPr/>
          <p:nvPr/>
        </p:nvSpPr>
        <p:spPr>
          <a:xfrm>
            <a:off x="1177743" y="4095146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" name="Google Shape;492;p63">
            <a:extLst>
              <a:ext uri="{FF2B5EF4-FFF2-40B4-BE49-F238E27FC236}">
                <a16:creationId xmlns:a16="http://schemas.microsoft.com/office/drawing/2014/main" id="{CC477590-679B-9FD9-9599-9D5EF7B2CC9B}"/>
              </a:ext>
            </a:extLst>
          </p:cNvPr>
          <p:cNvSpPr txBox="1"/>
          <p:nvPr/>
        </p:nvSpPr>
        <p:spPr>
          <a:xfrm>
            <a:off x="1947086" y="4121322"/>
            <a:ext cx="1690369" cy="253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  <a:tabLst/>
              <a:defRPr/>
            </a:pPr>
            <a:r>
              <a:rPr kumimoji="0" lang="es-419" sz="1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FUTURE WORK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39" name="Graphic 38" descr="City outline">
            <a:extLst>
              <a:ext uri="{FF2B5EF4-FFF2-40B4-BE49-F238E27FC236}">
                <a16:creationId xmlns:a16="http://schemas.microsoft.com/office/drawing/2014/main" id="{AA9666B3-990C-779C-B6B0-BEEA239AA9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61673" y="411033"/>
            <a:ext cx="514067" cy="514067"/>
          </a:xfrm>
          <a:prstGeom prst="rect">
            <a:avLst/>
          </a:prstGeom>
        </p:spPr>
      </p:pic>
      <p:pic>
        <p:nvPicPr>
          <p:cNvPr id="41" name="Graphic 40" descr="Future with solid fill">
            <a:extLst>
              <a:ext uri="{FF2B5EF4-FFF2-40B4-BE49-F238E27FC236}">
                <a16:creationId xmlns:a16="http://schemas.microsoft.com/office/drawing/2014/main" id="{D8119C8E-C0F5-50F3-F604-BCEBA0BA56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2816" y="4146233"/>
            <a:ext cx="466453" cy="466453"/>
          </a:xfrm>
          <a:prstGeom prst="rect">
            <a:avLst/>
          </a:prstGeom>
        </p:spPr>
      </p:pic>
      <p:pic>
        <p:nvPicPr>
          <p:cNvPr id="43" name="Graphic 42" descr="Windy with solid fill">
            <a:extLst>
              <a:ext uri="{FF2B5EF4-FFF2-40B4-BE49-F238E27FC236}">
                <a16:creationId xmlns:a16="http://schemas.microsoft.com/office/drawing/2014/main" id="{3A0FDDA2-620A-601A-BF32-46D0C8178C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36326" y="3187540"/>
            <a:ext cx="616477" cy="616477"/>
          </a:xfrm>
          <a:prstGeom prst="rect">
            <a:avLst/>
          </a:prstGeom>
        </p:spPr>
      </p:pic>
      <p:sp>
        <p:nvSpPr>
          <p:cNvPr id="3" name="Google Shape;490;p63">
            <a:extLst>
              <a:ext uri="{FF2B5EF4-FFF2-40B4-BE49-F238E27FC236}">
                <a16:creationId xmlns:a16="http://schemas.microsoft.com/office/drawing/2014/main" id="{45E6081C-6B95-00F3-7AD9-5E6C40287467}"/>
              </a:ext>
            </a:extLst>
          </p:cNvPr>
          <p:cNvSpPr txBox="1"/>
          <p:nvPr/>
        </p:nvSpPr>
        <p:spPr>
          <a:xfrm>
            <a:off x="2744013" y="2497382"/>
            <a:ext cx="5652348" cy="99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s-419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City4CFD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s-419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ANSA scripting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493;p63">
            <a:extLst>
              <a:ext uri="{FF2B5EF4-FFF2-40B4-BE49-F238E27FC236}">
                <a16:creationId xmlns:a16="http://schemas.microsoft.com/office/drawing/2014/main" id="{AE932B78-02D6-2833-2E26-13E24EDB8F3E}"/>
              </a:ext>
            </a:extLst>
          </p:cNvPr>
          <p:cNvSpPr txBox="1"/>
          <p:nvPr/>
        </p:nvSpPr>
        <p:spPr>
          <a:xfrm>
            <a:off x="3146373" y="1431300"/>
            <a:ext cx="4426819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City4CFD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Open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source</a:t>
            </a: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datasets</a:t>
            </a:r>
            <a:endParaRPr kumimoji="0" lang="es-MX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" name="Google Shape;493;p63">
            <a:extLst>
              <a:ext uri="{FF2B5EF4-FFF2-40B4-BE49-F238E27FC236}">
                <a16:creationId xmlns:a16="http://schemas.microsoft.com/office/drawing/2014/main" id="{C5A954DA-9149-BF08-E10F-E3F61223D2F6}"/>
              </a:ext>
            </a:extLst>
          </p:cNvPr>
          <p:cNvSpPr txBox="1"/>
          <p:nvPr/>
        </p:nvSpPr>
        <p:spPr>
          <a:xfrm>
            <a:off x="1944564" y="4291480"/>
            <a:ext cx="4426819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FLIC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6" name="Google Shape;490;p63">
            <a:extLst>
              <a:ext uri="{FF2B5EF4-FFF2-40B4-BE49-F238E27FC236}">
                <a16:creationId xmlns:a16="http://schemas.microsoft.com/office/drawing/2014/main" id="{DDEBB0F4-8FB6-2848-EAE6-098FA3F4FA90}"/>
              </a:ext>
            </a:extLst>
          </p:cNvPr>
          <p:cNvSpPr txBox="1"/>
          <p:nvPr/>
        </p:nvSpPr>
        <p:spPr>
          <a:xfrm>
            <a:off x="2488138" y="3365888"/>
            <a:ext cx="2073950" cy="117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CEDVAL case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Monterrey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endParaRPr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Terrassa case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Google Shape;493;p63">
            <a:extLst>
              <a:ext uri="{FF2B5EF4-FFF2-40B4-BE49-F238E27FC236}">
                <a16:creationId xmlns:a16="http://schemas.microsoft.com/office/drawing/2014/main" id="{BEC652F5-C662-0725-B572-F393B7BD0FD6}"/>
              </a:ext>
            </a:extLst>
          </p:cNvPr>
          <p:cNvSpPr txBox="1"/>
          <p:nvPr/>
        </p:nvSpPr>
        <p:spPr>
          <a:xfrm>
            <a:off x="3201366" y="547285"/>
            <a:ext cx="4426819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Expansion</a:t>
            </a: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</a:t>
            </a: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Digital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Twins</a:t>
            </a:r>
            <a:endParaRPr kumimoji="0" lang="es-MX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BED9699-A1E7-2F94-D0B9-7485AC48233D}"/>
              </a:ext>
            </a:extLst>
          </p:cNvPr>
          <p:cNvCxnSpPr>
            <a:cxnSpLocks/>
          </p:cNvCxnSpPr>
          <p:nvPr/>
        </p:nvCxnSpPr>
        <p:spPr>
          <a:xfrm>
            <a:off x="611188" y="708147"/>
            <a:ext cx="1656000" cy="0"/>
          </a:xfrm>
          <a:prstGeom prst="straightConnector1">
            <a:avLst/>
          </a:prstGeom>
          <a:ln w="889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CF24BDA0-DCDD-5D2E-3AB9-7193413F54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419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1699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15588-8935-FB42-0B86-FE6F78A08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A875FC-3B2A-291F-3B82-74446DFEA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0B04795-0DE7-4ECC-8A35-5B225D21AD06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11" name="Google Shape;520;p65">
            <a:extLst>
              <a:ext uri="{FF2B5EF4-FFF2-40B4-BE49-F238E27FC236}">
                <a16:creationId xmlns:a16="http://schemas.microsoft.com/office/drawing/2014/main" id="{B39AB131-4420-B2CD-62D4-D5F7055157DA}"/>
              </a:ext>
            </a:extLst>
          </p:cNvPr>
          <p:cNvSpPr txBox="1"/>
          <p:nvPr/>
        </p:nvSpPr>
        <p:spPr>
          <a:xfrm>
            <a:off x="4761877" y="85639"/>
            <a:ext cx="4132870" cy="207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1" err="1"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Exploration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Simulation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Future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Work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518;p65">
            <a:extLst>
              <a:ext uri="{FF2B5EF4-FFF2-40B4-BE49-F238E27FC236}">
                <a16:creationId xmlns:a16="http://schemas.microsoft.com/office/drawing/2014/main" id="{36531C8B-361F-58B6-DFD0-7FFDCC0EB8E9}"/>
              </a:ext>
            </a:extLst>
          </p:cNvPr>
          <p:cNvSpPr txBox="1"/>
          <p:nvPr/>
        </p:nvSpPr>
        <p:spPr>
          <a:xfrm>
            <a:off x="484296" y="289021"/>
            <a:ext cx="6431195" cy="85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lang="es-MX" sz="1800" b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Urban Digital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Twins</a:t>
            </a:r>
            <a:r>
              <a:rPr lang="es-MX" sz="1800" b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es-MX" sz="1800" b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future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s-MX" sz="1800" b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urban</a:t>
            </a:r>
            <a:r>
              <a:rPr lang="es-MX" sz="1800" b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planning</a:t>
            </a:r>
            <a:endParaRPr lang="es-ES" sz="1100" err="1">
              <a:latin typeface="Times New Roman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s-MX" sz="1800" b="1">
              <a:solidFill>
                <a:srgbClr val="0033A0"/>
              </a:solidFill>
              <a:latin typeface="baumans"/>
              <a:ea typeface="Times New Roman"/>
              <a:cs typeface="Times New Roman"/>
            </a:endParaRPr>
          </a:p>
          <a:p>
            <a:endParaRPr lang="es-ES" sz="1500" b="1">
              <a:solidFill>
                <a:srgbClr val="0000FF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5" name="Google Shape;519;p65">
            <a:extLst>
              <a:ext uri="{FF2B5EF4-FFF2-40B4-BE49-F238E27FC236}">
                <a16:creationId xmlns:a16="http://schemas.microsoft.com/office/drawing/2014/main" id="{34CDBE4E-73D7-AE8E-537F-278D9247BB6F}"/>
              </a:ext>
            </a:extLst>
          </p:cNvPr>
          <p:cNvCxnSpPr/>
          <p:nvPr/>
        </p:nvCxnSpPr>
        <p:spPr>
          <a:xfrm>
            <a:off x="554038" y="577621"/>
            <a:ext cx="24027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523;p65">
            <a:extLst>
              <a:ext uri="{FF2B5EF4-FFF2-40B4-BE49-F238E27FC236}">
                <a16:creationId xmlns:a16="http://schemas.microsoft.com/office/drawing/2014/main" id="{4C71E666-01E6-A30D-1B71-377B723CBBCC}"/>
              </a:ext>
            </a:extLst>
          </p:cNvPr>
          <p:cNvCxnSpPr/>
          <p:nvPr/>
        </p:nvCxnSpPr>
        <p:spPr>
          <a:xfrm>
            <a:off x="5716969" y="293358"/>
            <a:ext cx="24756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1" name="Group 25">
            <a:extLst>
              <a:ext uri="{FF2B5EF4-FFF2-40B4-BE49-F238E27FC236}">
                <a16:creationId xmlns:a16="http://schemas.microsoft.com/office/drawing/2014/main" id="{597FF096-39A3-2C7C-A958-B232B07FB408}"/>
              </a:ext>
            </a:extLst>
          </p:cNvPr>
          <p:cNvGrpSpPr/>
          <p:nvPr/>
        </p:nvGrpSpPr>
        <p:grpSpPr>
          <a:xfrm>
            <a:off x="7270931" y="1715373"/>
            <a:ext cx="1264739" cy="307777"/>
            <a:chOff x="6771400" y="1760648"/>
            <a:chExt cx="1264739" cy="307777"/>
          </a:xfrm>
        </p:grpSpPr>
        <p:sp>
          <p:nvSpPr>
            <p:cNvPr id="19" name="TextBox 1">
              <a:extLst>
                <a:ext uri="{FF2B5EF4-FFF2-40B4-BE49-F238E27FC236}">
                  <a16:creationId xmlns:a16="http://schemas.microsoft.com/office/drawing/2014/main" id="{672E96EC-45D1-4621-3447-506E55E1DDBD}"/>
                </a:ext>
              </a:extLst>
            </p:cNvPr>
            <p:cNvSpPr txBox="1"/>
            <p:nvPr/>
          </p:nvSpPr>
          <p:spPr>
            <a:xfrm>
              <a:off x="6817774" y="1760648"/>
              <a:ext cx="12183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Times New Roman" panose="02020603050405020304" pitchFamily="18" charset="0"/>
                </a:rPr>
                <a:t>Limitations</a:t>
              </a:r>
            </a:p>
          </p:txBody>
        </p:sp>
        <p:sp>
          <p:nvSpPr>
            <p:cNvPr id="20" name="Rectangle: Rounded Corners 2">
              <a:extLst>
                <a:ext uri="{FF2B5EF4-FFF2-40B4-BE49-F238E27FC236}">
                  <a16:creationId xmlns:a16="http://schemas.microsoft.com/office/drawing/2014/main" id="{20145C9E-FAB9-9ACB-95EE-AFCBBE2FEEA8}"/>
                </a:ext>
              </a:extLst>
            </p:cNvPr>
            <p:cNvSpPr/>
            <p:nvPr/>
          </p:nvSpPr>
          <p:spPr>
            <a:xfrm>
              <a:off x="6771400" y="1789041"/>
              <a:ext cx="1122467" cy="257618"/>
            </a:xfrm>
            <a:prstGeom prst="roundRect">
              <a:avLst/>
            </a:prstGeom>
            <a:noFill/>
            <a:ln>
              <a:solidFill>
                <a:schemeClr val="tx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3" name="Graphic 4" descr="Windy outline">
            <a:extLst>
              <a:ext uri="{FF2B5EF4-FFF2-40B4-BE49-F238E27FC236}">
                <a16:creationId xmlns:a16="http://schemas.microsoft.com/office/drawing/2014/main" id="{FF5DD527-5F72-BE99-0E1D-20C09B61B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1323" y="1998821"/>
            <a:ext cx="728812" cy="728812"/>
          </a:xfrm>
          <a:prstGeom prst="rect">
            <a:avLst/>
          </a:prstGeom>
        </p:spPr>
      </p:pic>
      <p:sp>
        <p:nvSpPr>
          <p:cNvPr id="25" name="TextBox 5">
            <a:extLst>
              <a:ext uri="{FF2B5EF4-FFF2-40B4-BE49-F238E27FC236}">
                <a16:creationId xmlns:a16="http://schemas.microsoft.com/office/drawing/2014/main" id="{7006521B-8F5D-574D-46BC-13FABB7F72B4}"/>
              </a:ext>
            </a:extLst>
          </p:cNvPr>
          <p:cNvSpPr txBox="1"/>
          <p:nvPr/>
        </p:nvSpPr>
        <p:spPr>
          <a:xfrm>
            <a:off x="7190788" y="2029777"/>
            <a:ext cx="156713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  <a:cs typeface="Times New Roman" panose="02020603050405020304" pitchFamily="18" charset="0"/>
              </a:rPr>
              <a:t>Takes too much time to pre-process.</a:t>
            </a:r>
          </a:p>
          <a:p>
            <a:endParaRPr lang="en-US">
              <a:latin typeface="+mn-lt"/>
              <a:cs typeface="Times New Roman" panose="02020603050405020304" pitchFamily="18" charset="0"/>
            </a:endParaRPr>
          </a:p>
          <a:p>
            <a:r>
              <a:rPr lang="en-US">
                <a:latin typeface="+mn-lt"/>
                <a:cs typeface="Times New Roman" panose="02020603050405020304" pitchFamily="18" charset="0"/>
              </a:rPr>
              <a:t>Lacks guidelines for state-of-the-art solvers as SOD2D.</a:t>
            </a:r>
          </a:p>
        </p:txBody>
      </p:sp>
      <p:grpSp>
        <p:nvGrpSpPr>
          <p:cNvPr id="31" name="Group 24">
            <a:extLst>
              <a:ext uri="{FF2B5EF4-FFF2-40B4-BE49-F238E27FC236}">
                <a16:creationId xmlns:a16="http://schemas.microsoft.com/office/drawing/2014/main" id="{04B06F76-9725-AB96-4F12-A368BBCA3E8B}"/>
              </a:ext>
            </a:extLst>
          </p:cNvPr>
          <p:cNvGrpSpPr/>
          <p:nvPr/>
        </p:nvGrpSpPr>
        <p:grpSpPr>
          <a:xfrm>
            <a:off x="4225161" y="1826768"/>
            <a:ext cx="2014818" cy="1676465"/>
            <a:chOff x="2856068" y="2901721"/>
            <a:chExt cx="3389255" cy="2870498"/>
          </a:xfrm>
        </p:grpSpPr>
        <p:grpSp>
          <p:nvGrpSpPr>
            <p:cNvPr id="27" name="Group 39">
              <a:extLst>
                <a:ext uri="{FF2B5EF4-FFF2-40B4-BE49-F238E27FC236}">
                  <a16:creationId xmlns:a16="http://schemas.microsoft.com/office/drawing/2014/main" id="{F7FD7C11-33C4-5A11-451F-1E867FC9EECC}"/>
                </a:ext>
              </a:extLst>
            </p:cNvPr>
            <p:cNvGrpSpPr/>
            <p:nvPr/>
          </p:nvGrpSpPr>
          <p:grpSpPr>
            <a:xfrm>
              <a:off x="2898676" y="2901721"/>
              <a:ext cx="3346647" cy="2870498"/>
              <a:chOff x="0" y="0"/>
              <a:chExt cx="968808" cy="812800"/>
            </a:xfrm>
          </p:grpSpPr>
          <p:sp>
            <p:nvSpPr>
              <p:cNvPr id="29" name="Freeform 40">
                <a:extLst>
                  <a:ext uri="{FF2B5EF4-FFF2-40B4-BE49-F238E27FC236}">
                    <a16:creationId xmlns:a16="http://schemas.microsoft.com/office/drawing/2014/main" id="{7A5308FE-3566-3320-457A-FEDEB0608556}"/>
                  </a:ext>
                </a:extLst>
              </p:cNvPr>
              <p:cNvSpPr/>
              <p:nvPr/>
            </p:nvSpPr>
            <p:spPr>
              <a:xfrm>
                <a:off x="0" y="0"/>
                <a:ext cx="968808" cy="543542"/>
              </a:xfrm>
              <a:custGeom>
                <a:avLst/>
                <a:gdLst/>
                <a:ahLst/>
                <a:cxnLst/>
                <a:rect l="l" t="t" r="r" b="b"/>
                <a:pathLst>
                  <a:path w="968808" h="543542">
                    <a:moveTo>
                      <a:pt x="107338" y="0"/>
                    </a:moveTo>
                    <a:lnTo>
                      <a:pt x="861469" y="0"/>
                    </a:lnTo>
                    <a:cubicBezTo>
                      <a:pt x="889937" y="0"/>
                      <a:pt x="917239" y="11309"/>
                      <a:pt x="937369" y="31439"/>
                    </a:cubicBezTo>
                    <a:cubicBezTo>
                      <a:pt x="957499" y="51569"/>
                      <a:pt x="968808" y="78870"/>
                      <a:pt x="968808" y="107338"/>
                    </a:cubicBezTo>
                    <a:lnTo>
                      <a:pt x="968808" y="436203"/>
                    </a:lnTo>
                    <a:cubicBezTo>
                      <a:pt x="968808" y="464671"/>
                      <a:pt x="957499" y="491973"/>
                      <a:pt x="937369" y="512103"/>
                    </a:cubicBezTo>
                    <a:cubicBezTo>
                      <a:pt x="917239" y="532233"/>
                      <a:pt x="889937" y="543542"/>
                      <a:pt x="861469" y="543542"/>
                    </a:cubicBezTo>
                    <a:lnTo>
                      <a:pt x="107338" y="543542"/>
                    </a:lnTo>
                    <a:cubicBezTo>
                      <a:pt x="78870" y="543542"/>
                      <a:pt x="51569" y="532233"/>
                      <a:pt x="31439" y="512103"/>
                    </a:cubicBezTo>
                    <a:cubicBezTo>
                      <a:pt x="11309" y="491973"/>
                      <a:pt x="0" y="464671"/>
                      <a:pt x="0" y="436203"/>
                    </a:cubicBezTo>
                    <a:lnTo>
                      <a:pt x="0" y="107338"/>
                    </a:lnTo>
                    <a:cubicBezTo>
                      <a:pt x="0" y="78870"/>
                      <a:pt x="11309" y="51569"/>
                      <a:pt x="31439" y="31439"/>
                    </a:cubicBezTo>
                    <a:cubicBezTo>
                      <a:pt x="51569" y="11309"/>
                      <a:pt x="78870" y="0"/>
                      <a:pt x="10733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GB" sz="105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TextBox 41">
                <a:extLst>
                  <a:ext uri="{FF2B5EF4-FFF2-40B4-BE49-F238E27FC236}">
                    <a16:creationId xmlns:a16="http://schemas.microsoft.com/office/drawing/2014/main" id="{B317AA4C-BC3B-2B53-CE23-C31866C697DE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</p:spPr>
            <p:txBody>
              <a:bodyPr lIns="50801" tIns="50801" rIns="50801" bIns="50801" rtlCol="0" anchor="ctr"/>
              <a:lstStyle/>
              <a:p>
                <a:pPr algn="ctr"/>
                <a:endParaRPr sz="9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8" name="TextBox 81">
              <a:extLst>
                <a:ext uri="{FF2B5EF4-FFF2-40B4-BE49-F238E27FC236}">
                  <a16:creationId xmlns:a16="http://schemas.microsoft.com/office/drawing/2014/main" id="{C99615B2-9AE4-A8BC-1C9B-E0C5D5AEE617}"/>
                </a:ext>
              </a:extLst>
            </p:cNvPr>
            <p:cNvSpPr txBox="1"/>
            <p:nvPr/>
          </p:nvSpPr>
          <p:spPr>
            <a:xfrm>
              <a:off x="2856068" y="3095183"/>
              <a:ext cx="3389255" cy="14755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67029" lvl="1" indent="-183514">
                <a:buFont typeface="Arial"/>
                <a:buChar char="•"/>
              </a:pPr>
              <a:r>
                <a:rPr lang="en-US">
                  <a:solidFill>
                    <a:srgbClr val="000000"/>
                  </a:solidFill>
                  <a:latin typeface="+mn-lt"/>
                  <a:cs typeface="Times New Roman" panose="02020603050405020304" pitchFamily="18" charset="0"/>
                </a:rPr>
                <a:t>Health impact (Air quality).</a:t>
              </a:r>
            </a:p>
            <a:p>
              <a:pPr marL="367029" lvl="1" indent="-183514">
                <a:buFont typeface="Arial"/>
                <a:buChar char="•"/>
              </a:pPr>
              <a:r>
                <a:rPr lang="en-US">
                  <a:solidFill>
                    <a:srgbClr val="000000"/>
                  </a:solidFill>
                  <a:latin typeface="+mn-lt"/>
                  <a:cs typeface="Times New Roman" panose="02020603050405020304" pitchFamily="18" charset="0"/>
                </a:rPr>
                <a:t>Energy consumption.</a:t>
              </a:r>
            </a:p>
            <a:p>
              <a:pPr marL="367029" lvl="1" indent="-183514">
                <a:buFont typeface="Arial"/>
                <a:buChar char="•"/>
              </a:pPr>
              <a:r>
                <a:rPr lang="en-US">
                  <a:latin typeface="+mn-lt"/>
                  <a:cs typeface="Times New Roman" panose="02020603050405020304" pitchFamily="18" charset="0"/>
                </a:rPr>
                <a:t>Pollution dispersion.</a:t>
              </a:r>
              <a:endParaRPr lang="en-US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Group 23">
            <a:extLst>
              <a:ext uri="{FF2B5EF4-FFF2-40B4-BE49-F238E27FC236}">
                <a16:creationId xmlns:a16="http://schemas.microsoft.com/office/drawing/2014/main" id="{ECBEB466-3782-31E3-376A-7BCFC2C726C4}"/>
              </a:ext>
            </a:extLst>
          </p:cNvPr>
          <p:cNvGrpSpPr/>
          <p:nvPr/>
        </p:nvGrpSpPr>
        <p:grpSpPr>
          <a:xfrm>
            <a:off x="3258749" y="2097670"/>
            <a:ext cx="841867" cy="503945"/>
            <a:chOff x="3524634" y="2119535"/>
            <a:chExt cx="1373416" cy="547381"/>
          </a:xfrm>
        </p:grpSpPr>
        <p:sp>
          <p:nvSpPr>
            <p:cNvPr id="33" name="Freeform 89">
              <a:extLst>
                <a:ext uri="{FF2B5EF4-FFF2-40B4-BE49-F238E27FC236}">
                  <a16:creationId xmlns:a16="http://schemas.microsoft.com/office/drawing/2014/main" id="{18C4D994-C317-BC3D-4275-55DDD20636FC}"/>
                </a:ext>
              </a:extLst>
            </p:cNvPr>
            <p:cNvSpPr/>
            <p:nvPr/>
          </p:nvSpPr>
          <p:spPr>
            <a:xfrm rot="10800000">
              <a:off x="3706683" y="2119535"/>
              <a:ext cx="1099874" cy="547381"/>
            </a:xfrm>
            <a:custGeom>
              <a:avLst/>
              <a:gdLst/>
              <a:ahLst/>
              <a:cxnLst/>
              <a:rect l="l" t="t" r="r" b="b"/>
              <a:pathLst>
                <a:path w="1198351" h="674597">
                  <a:moveTo>
                    <a:pt x="0" y="337299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198351" y="203200"/>
                  </a:lnTo>
                  <a:lnTo>
                    <a:pt x="1198351" y="471397"/>
                  </a:lnTo>
                  <a:lnTo>
                    <a:pt x="406400" y="471397"/>
                  </a:lnTo>
                  <a:lnTo>
                    <a:pt x="406400" y="674597"/>
                  </a:lnTo>
                  <a:lnTo>
                    <a:pt x="0" y="337299"/>
                  </a:lnTo>
                  <a:close/>
                </a:path>
              </a:pathLst>
            </a:custGeom>
            <a:solidFill>
              <a:srgbClr val="032842"/>
            </a:solidFill>
          </p:spPr>
          <p:txBody>
            <a:bodyPr/>
            <a:lstStyle/>
            <a:p>
              <a:endParaRPr lang="en-GB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90">
              <a:extLst>
                <a:ext uri="{FF2B5EF4-FFF2-40B4-BE49-F238E27FC236}">
                  <a16:creationId xmlns:a16="http://schemas.microsoft.com/office/drawing/2014/main" id="{B50C09E5-244E-5AA6-FBDB-BB69B872B9CC}"/>
                </a:ext>
              </a:extLst>
            </p:cNvPr>
            <p:cNvSpPr txBox="1"/>
            <p:nvPr/>
          </p:nvSpPr>
          <p:spPr>
            <a:xfrm>
              <a:off x="3524634" y="2250525"/>
              <a:ext cx="1373416" cy="254461"/>
            </a:xfrm>
            <a:prstGeom prst="rect">
              <a:avLst/>
            </a:prstGeom>
          </p:spPr>
          <p:txBody>
            <a:bodyPr lIns="50801" tIns="50801" rIns="50801" bIns="50801" rtlCol="0" anchor="ctr"/>
            <a:lstStyle/>
            <a:p>
              <a:pPr algn="ctr"/>
              <a:r>
                <a:rPr lang="es-MX" sz="1200" err="1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Impact</a:t>
              </a:r>
              <a:endParaRPr lang="es-MX" sz="12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1C92A7C-90C2-E300-9612-C9384DE38EA8}"/>
              </a:ext>
            </a:extLst>
          </p:cNvPr>
          <p:cNvGrpSpPr>
            <a:grpSpLocks noChangeAspect="1"/>
          </p:cNvGrpSpPr>
          <p:nvPr/>
        </p:nvGrpSpPr>
        <p:grpSpPr>
          <a:xfrm>
            <a:off x="4422131" y="3067100"/>
            <a:ext cx="663061" cy="663059"/>
            <a:chOff x="0" y="0"/>
            <a:chExt cx="6350000" cy="6349974"/>
          </a:xfrm>
        </p:grpSpPr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BC5D7262-61EF-C696-3FAA-88BDD53C4F40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t="-235" b="-235"/>
              </a:stretch>
            </a:blip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GB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TextBox 84">
            <a:extLst>
              <a:ext uri="{FF2B5EF4-FFF2-40B4-BE49-F238E27FC236}">
                <a16:creationId xmlns:a16="http://schemas.microsoft.com/office/drawing/2014/main" id="{36AE5EA7-B14B-BA50-8D00-E303D17B0540}"/>
              </a:ext>
            </a:extLst>
          </p:cNvPr>
          <p:cNvSpPr txBox="1"/>
          <p:nvPr/>
        </p:nvSpPr>
        <p:spPr>
          <a:xfrm>
            <a:off x="4190199" y="3833834"/>
            <a:ext cx="1118753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Barriers to reduce </a:t>
            </a:r>
          </a:p>
          <a:p>
            <a:pPr marL="0" lvl="0" indent="0" algn="ctr"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the pollution</a:t>
            </a:r>
          </a:p>
        </p:txBody>
      </p:sp>
      <p:sp>
        <p:nvSpPr>
          <p:cNvPr id="42" name="TextBox 84">
            <a:extLst>
              <a:ext uri="{FF2B5EF4-FFF2-40B4-BE49-F238E27FC236}">
                <a16:creationId xmlns:a16="http://schemas.microsoft.com/office/drawing/2014/main" id="{11F98DE2-345B-BEDE-80AB-FAF14BDC738A}"/>
              </a:ext>
            </a:extLst>
          </p:cNvPr>
          <p:cNvSpPr txBox="1"/>
          <p:nvPr/>
        </p:nvSpPr>
        <p:spPr>
          <a:xfrm>
            <a:off x="5232570" y="3834294"/>
            <a:ext cx="1118753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Public health </a:t>
            </a:r>
          </a:p>
          <a:p>
            <a:pPr algn="ctr"/>
            <a:r>
              <a:rPr lang="en-US" sz="120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strategies</a:t>
            </a:r>
          </a:p>
        </p:txBody>
      </p:sp>
      <p:pic>
        <p:nvPicPr>
          <p:cNvPr id="44" name="Picture 22">
            <a:extLst>
              <a:ext uri="{FF2B5EF4-FFF2-40B4-BE49-F238E27FC236}">
                <a16:creationId xmlns:a16="http://schemas.microsoft.com/office/drawing/2014/main" id="{E77E7ACA-F42F-5849-17BD-E559FD2554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1"/>
          <a:stretch/>
        </p:blipFill>
        <p:spPr>
          <a:xfrm>
            <a:off x="5484675" y="3051542"/>
            <a:ext cx="663061" cy="67262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8" name="Picture 7" descr="Icono&#10;&#10;El contenido generado por IA puede ser incorrecto.">
            <a:extLst>
              <a:ext uri="{FF2B5EF4-FFF2-40B4-BE49-F238E27FC236}">
                <a16:creationId xmlns:a16="http://schemas.microsoft.com/office/drawing/2014/main" id="{0DF1AA46-5D0B-8F15-F21A-AA73C20E54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053" y="1327443"/>
            <a:ext cx="2803771" cy="562709"/>
          </a:xfrm>
          <a:prstGeom prst="rect">
            <a:avLst/>
          </a:prstGeom>
        </p:spPr>
      </p:pic>
      <p:pic>
        <p:nvPicPr>
          <p:cNvPr id="50" name="Picture 2" descr="Top Things to Do in Monterrey, Mexico">
            <a:extLst>
              <a:ext uri="{FF2B5EF4-FFF2-40B4-BE49-F238E27FC236}">
                <a16:creationId xmlns:a16="http://schemas.microsoft.com/office/drawing/2014/main" id="{63EEB5A4-CFB9-BAC3-68B7-1EAB21FC0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646" y="2839502"/>
            <a:ext cx="2814585" cy="1583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092AB7F6-6735-CC94-DC6F-590CEDABDF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788" y="2059441"/>
            <a:ext cx="2611211" cy="58919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44FD7E7-9856-B226-B6F9-6558E8782DF0}"/>
              </a:ext>
            </a:extLst>
          </p:cNvPr>
          <p:cNvSpPr txBox="1"/>
          <p:nvPr/>
        </p:nvSpPr>
        <p:spPr>
          <a:xfrm>
            <a:off x="482382" y="720794"/>
            <a:ext cx="732974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>
                <a:latin typeface="Calibri"/>
              </a:rPr>
              <a:t>Urban Digital </a:t>
            </a:r>
            <a:r>
              <a:rPr lang="es-ES" b="1" err="1">
                <a:latin typeface="Calibri"/>
              </a:rPr>
              <a:t>Twins</a:t>
            </a:r>
            <a:r>
              <a:rPr lang="es-ES">
                <a:latin typeface="Calibri"/>
              </a:rPr>
              <a:t> are virtual replicas </a:t>
            </a:r>
            <a:r>
              <a:rPr lang="es-ES" err="1">
                <a:latin typeface="Calibri"/>
              </a:rPr>
              <a:t>of</a:t>
            </a:r>
            <a:r>
              <a:rPr lang="es-ES">
                <a:latin typeface="Calibri"/>
              </a:rPr>
              <a:t> </a:t>
            </a:r>
            <a:r>
              <a:rPr lang="es-ES" err="1">
                <a:latin typeface="Calibri"/>
              </a:rPr>
              <a:t>cities</a:t>
            </a:r>
            <a:r>
              <a:rPr lang="es-ES">
                <a:latin typeface="Calibri"/>
              </a:rPr>
              <a:t> </a:t>
            </a:r>
            <a:r>
              <a:rPr lang="es-ES" err="1">
                <a:latin typeface="Calibri"/>
              </a:rPr>
              <a:t>that</a:t>
            </a:r>
            <a:r>
              <a:rPr lang="es-ES">
                <a:latin typeface="Calibri"/>
              </a:rPr>
              <a:t> </a:t>
            </a:r>
            <a:r>
              <a:rPr lang="es-ES" err="1">
                <a:latin typeface="Calibri"/>
              </a:rPr>
              <a:t>integrate</a:t>
            </a:r>
            <a:r>
              <a:rPr lang="es-ES">
                <a:latin typeface="Calibri"/>
              </a:rPr>
              <a:t> </a:t>
            </a:r>
            <a:r>
              <a:rPr lang="en">
                <a:latin typeface="Calibri"/>
              </a:rPr>
              <a:t>data from multiple sources as </a:t>
            </a:r>
            <a:r>
              <a:rPr lang="en" b="1">
                <a:latin typeface="Calibri"/>
              </a:rPr>
              <a:t>Layers of Information</a:t>
            </a:r>
            <a:r>
              <a:rPr lang="en">
                <a:latin typeface="Calibri"/>
              </a:rPr>
              <a:t> to test and foresee urban plans digitally.</a:t>
            </a:r>
            <a:endParaRPr lang="es-ES">
              <a:latin typeface="Calibri"/>
            </a:endParaRPr>
          </a:p>
        </p:txBody>
      </p:sp>
      <p:pic>
        <p:nvPicPr>
          <p:cNvPr id="1026" name="Picture 2" descr="Tecnologico De Monterrey Logo">
            <a:extLst>
              <a:ext uri="{FF2B5EF4-FFF2-40B4-BE49-F238E27FC236}">
                <a16:creationId xmlns:a16="http://schemas.microsoft.com/office/drawing/2014/main" id="{16944D21-1CDF-53C4-0392-173A1611C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647" y="2844645"/>
            <a:ext cx="587177" cy="587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arcelona Supercomputing Center - Centro Nacional de Supercomputación ...">
            <a:extLst>
              <a:ext uri="{FF2B5EF4-FFF2-40B4-BE49-F238E27FC236}">
                <a16:creationId xmlns:a16="http://schemas.microsoft.com/office/drawing/2014/main" id="{069CF447-2F33-3464-A4E3-BC1CE361C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348" y="1715373"/>
            <a:ext cx="723056" cy="18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87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/>
      <p:bldP spid="42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4C18F-E781-954E-25AA-2ED55BD50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D2E58-9A79-9EBB-4CC6-66FCB3C0F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0B04795-0DE7-4ECC-8A35-5B225D21AD06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11" name="Google Shape;520;p65">
            <a:extLst>
              <a:ext uri="{FF2B5EF4-FFF2-40B4-BE49-F238E27FC236}">
                <a16:creationId xmlns:a16="http://schemas.microsoft.com/office/drawing/2014/main" id="{BD397BA0-0EA0-0861-F95D-4EAE5957729B}"/>
              </a:ext>
            </a:extLst>
          </p:cNvPr>
          <p:cNvSpPr txBox="1"/>
          <p:nvPr/>
        </p:nvSpPr>
        <p:spPr>
          <a:xfrm>
            <a:off x="4761877" y="85639"/>
            <a:ext cx="4132870" cy="207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1" err="1"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Exploration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Simulation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Future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Work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" name="Google Shape;523;p65">
            <a:extLst>
              <a:ext uri="{FF2B5EF4-FFF2-40B4-BE49-F238E27FC236}">
                <a16:creationId xmlns:a16="http://schemas.microsoft.com/office/drawing/2014/main" id="{43F8D0E2-D085-2CDF-5024-A76A3E6349A6}"/>
              </a:ext>
            </a:extLst>
          </p:cNvPr>
          <p:cNvCxnSpPr/>
          <p:nvPr/>
        </p:nvCxnSpPr>
        <p:spPr>
          <a:xfrm>
            <a:off x="5716969" y="293358"/>
            <a:ext cx="24756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1" name="Group 25">
            <a:extLst>
              <a:ext uri="{FF2B5EF4-FFF2-40B4-BE49-F238E27FC236}">
                <a16:creationId xmlns:a16="http://schemas.microsoft.com/office/drawing/2014/main" id="{979D3D14-CF98-53DF-D8E1-41AB7119AD2E}"/>
              </a:ext>
            </a:extLst>
          </p:cNvPr>
          <p:cNvGrpSpPr/>
          <p:nvPr/>
        </p:nvGrpSpPr>
        <p:grpSpPr>
          <a:xfrm>
            <a:off x="3696662" y="1176628"/>
            <a:ext cx="1750676" cy="580452"/>
            <a:chOff x="6771400" y="1789041"/>
            <a:chExt cx="1122467" cy="257618"/>
          </a:xfrm>
        </p:grpSpPr>
        <p:sp>
          <p:nvSpPr>
            <p:cNvPr id="19" name="TextBox 1">
              <a:extLst>
                <a:ext uri="{FF2B5EF4-FFF2-40B4-BE49-F238E27FC236}">
                  <a16:creationId xmlns:a16="http://schemas.microsoft.com/office/drawing/2014/main" id="{F99317A5-5F13-4DC1-CD76-6F4B33B961A2}"/>
                </a:ext>
              </a:extLst>
            </p:cNvPr>
            <p:cNvSpPr txBox="1"/>
            <p:nvPr/>
          </p:nvSpPr>
          <p:spPr>
            <a:xfrm>
              <a:off x="6822354" y="1829061"/>
              <a:ext cx="1020559" cy="177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Times New Roman" panose="02020603050405020304" pitchFamily="18" charset="0"/>
                </a:rPr>
                <a:t>OBJECTIVE</a:t>
              </a:r>
            </a:p>
          </p:txBody>
        </p:sp>
        <p:sp>
          <p:nvSpPr>
            <p:cNvPr id="20" name="Rectangle: Rounded Corners 2">
              <a:extLst>
                <a:ext uri="{FF2B5EF4-FFF2-40B4-BE49-F238E27FC236}">
                  <a16:creationId xmlns:a16="http://schemas.microsoft.com/office/drawing/2014/main" id="{FB9C3C1B-9B92-6C02-1688-0E0D1D7F54C2}"/>
                </a:ext>
              </a:extLst>
            </p:cNvPr>
            <p:cNvSpPr/>
            <p:nvPr/>
          </p:nvSpPr>
          <p:spPr>
            <a:xfrm>
              <a:off x="6771400" y="1789041"/>
              <a:ext cx="1122467" cy="257618"/>
            </a:xfrm>
            <a:prstGeom prst="roundRect">
              <a:avLst/>
            </a:prstGeom>
            <a:noFill/>
            <a:ln>
              <a:solidFill>
                <a:schemeClr val="tx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5">
            <a:extLst>
              <a:ext uri="{FF2B5EF4-FFF2-40B4-BE49-F238E27FC236}">
                <a16:creationId xmlns:a16="http://schemas.microsoft.com/office/drawing/2014/main" id="{3CA4AAB5-A793-16FD-BD70-2B04345FC8E0}"/>
              </a:ext>
            </a:extLst>
          </p:cNvPr>
          <p:cNvSpPr txBox="1"/>
          <p:nvPr/>
        </p:nvSpPr>
        <p:spPr>
          <a:xfrm>
            <a:off x="617062" y="2176463"/>
            <a:ext cx="7909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latin typeface="+mn-lt"/>
                <a:cs typeface="Times New Roman" panose="02020603050405020304" pitchFamily="18" charset="0"/>
              </a:rPr>
              <a:t>To automatize and generalize pre-processing for urban flow simulations in SOD2D</a:t>
            </a:r>
            <a:r>
              <a:rPr lang="en-US" sz="2000">
                <a:latin typeface="+mn-lt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0022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>
          <a:extLst>
            <a:ext uri="{FF2B5EF4-FFF2-40B4-BE49-F238E27FC236}">
              <a16:creationId xmlns:a16="http://schemas.microsoft.com/office/drawing/2014/main" id="{83E2376E-FCF3-52FF-4FA6-3BE327C62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2EE721-5B9A-FF51-32BA-9C0EAB1693D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-2177759" y="2177760"/>
            <a:ext cx="5118308" cy="762788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B30BD4D-7909-A77C-2588-D73687891A21}"/>
              </a:ext>
            </a:extLst>
          </p:cNvPr>
          <p:cNvSpPr/>
          <p:nvPr/>
        </p:nvSpPr>
        <p:spPr>
          <a:xfrm>
            <a:off x="368198" y="-12702"/>
            <a:ext cx="2401861" cy="5156202"/>
          </a:xfrm>
          <a:custGeom>
            <a:avLst/>
            <a:gdLst>
              <a:gd name="connsiteX0" fmla="*/ 0 w 514350"/>
              <a:gd name="connsiteY0" fmla="*/ 139700 h 139700"/>
              <a:gd name="connsiteX1" fmla="*/ 514350 w 514350"/>
              <a:gd name="connsiteY1" fmla="*/ 0 h 13970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41913"/>
              <a:gd name="connsiteY0" fmla="*/ 142192 h 142192"/>
              <a:gd name="connsiteX1" fmla="*/ 441913 w 441913"/>
              <a:gd name="connsiteY1" fmla="*/ 0 h 142192"/>
              <a:gd name="connsiteX0" fmla="*/ 0 w 441913"/>
              <a:gd name="connsiteY0" fmla="*/ 142192 h 142192"/>
              <a:gd name="connsiteX1" fmla="*/ 441913 w 441913"/>
              <a:gd name="connsiteY1" fmla="*/ 0 h 14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1913" h="142192">
                <a:moveTo>
                  <a:pt x="0" y="142192"/>
                </a:moveTo>
                <a:cubicBezTo>
                  <a:pt x="208491" y="132138"/>
                  <a:pt x="436222" y="91909"/>
                  <a:pt x="441913" y="0"/>
                </a:cubicBezTo>
              </a:path>
            </a:pathLst>
          </a:cu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0D5EC08-A671-29BA-693C-1015E0DC39AE}"/>
              </a:ext>
            </a:extLst>
          </p:cNvPr>
          <p:cNvSpPr/>
          <p:nvPr/>
        </p:nvSpPr>
        <p:spPr>
          <a:xfrm>
            <a:off x="3175725" y="1228384"/>
            <a:ext cx="1223878" cy="2388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Google Shape;483;p63">
            <a:extLst>
              <a:ext uri="{FF2B5EF4-FFF2-40B4-BE49-F238E27FC236}">
                <a16:creationId xmlns:a16="http://schemas.microsoft.com/office/drawing/2014/main" id="{087C5BA2-90B3-8CA8-E985-4804BC6DA2CE}"/>
              </a:ext>
            </a:extLst>
          </p:cNvPr>
          <p:cNvSpPr/>
          <p:nvPr/>
        </p:nvSpPr>
        <p:spPr>
          <a:xfrm>
            <a:off x="2335416" y="310245"/>
            <a:ext cx="769500" cy="7695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84" name="Google Shape;484;p63">
            <a:extLst>
              <a:ext uri="{FF2B5EF4-FFF2-40B4-BE49-F238E27FC236}">
                <a16:creationId xmlns:a16="http://schemas.microsoft.com/office/drawing/2014/main" id="{5DD4FBB7-DE31-26AC-459B-01719DD7A282}"/>
              </a:ext>
            </a:extLst>
          </p:cNvPr>
          <p:cNvSpPr/>
          <p:nvPr/>
        </p:nvSpPr>
        <p:spPr>
          <a:xfrm>
            <a:off x="2238966" y="1216049"/>
            <a:ext cx="769500" cy="76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85" name="Google Shape;485;p63">
            <a:extLst>
              <a:ext uri="{FF2B5EF4-FFF2-40B4-BE49-F238E27FC236}">
                <a16:creationId xmlns:a16="http://schemas.microsoft.com/office/drawing/2014/main" id="{522850B9-9807-C9B6-9404-32A47EEE0515}"/>
              </a:ext>
            </a:extLst>
          </p:cNvPr>
          <p:cNvSpPr/>
          <p:nvPr/>
        </p:nvSpPr>
        <p:spPr>
          <a:xfrm>
            <a:off x="1944564" y="2218928"/>
            <a:ext cx="769500" cy="769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86" name="Google Shape;486;p63">
            <a:extLst>
              <a:ext uri="{FF2B5EF4-FFF2-40B4-BE49-F238E27FC236}">
                <a16:creationId xmlns:a16="http://schemas.microsoft.com/office/drawing/2014/main" id="{72CBA04E-7136-DAFB-0668-29166004340C}"/>
              </a:ext>
            </a:extLst>
          </p:cNvPr>
          <p:cNvSpPr txBox="1"/>
          <p:nvPr/>
        </p:nvSpPr>
        <p:spPr>
          <a:xfrm>
            <a:off x="6962057" y="102337"/>
            <a:ext cx="1553293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3000"/>
              <a:buFont typeface="Open Sans"/>
              <a:buNone/>
            </a:pPr>
            <a:r>
              <a:rPr lang="en-US" sz="3000" b="1" cap="small">
                <a:solidFill>
                  <a:srgbClr val="44546A"/>
                </a:solidFill>
                <a:latin typeface="Open Sans"/>
                <a:ea typeface="Open Sans"/>
                <a:cs typeface="Open Sans"/>
                <a:sym typeface="Open Sans"/>
              </a:rPr>
              <a:t>outline</a:t>
            </a:r>
            <a:endParaRPr lang="en-US" sz="1100"/>
          </a:p>
        </p:txBody>
      </p:sp>
      <p:sp>
        <p:nvSpPr>
          <p:cNvPr id="487" name="Google Shape;487;p63">
            <a:extLst>
              <a:ext uri="{FF2B5EF4-FFF2-40B4-BE49-F238E27FC236}">
                <a16:creationId xmlns:a16="http://schemas.microsoft.com/office/drawing/2014/main" id="{ADC430F7-6CAF-0A69-4839-A689DB6CDE90}"/>
              </a:ext>
            </a:extLst>
          </p:cNvPr>
          <p:cNvSpPr txBox="1"/>
          <p:nvPr/>
        </p:nvSpPr>
        <p:spPr>
          <a:xfrm>
            <a:off x="3201366" y="319920"/>
            <a:ext cx="1889923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MX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BACKGROUND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endParaRPr lang="es-419" sz="120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br>
              <a:rPr lang="es-419" sz="12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s-419" sz="1200" b="1" i="0" u="none" strike="noStrike" cap="none">
                <a:solidFill>
                  <a:srgbClr val="70AD47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9" name="Google Shape;489;p63">
            <a:extLst>
              <a:ext uri="{FF2B5EF4-FFF2-40B4-BE49-F238E27FC236}">
                <a16:creationId xmlns:a16="http://schemas.microsoft.com/office/drawing/2014/main" id="{3D5F53C8-06AC-53F4-9E14-E8286F68B9CE}"/>
              </a:ext>
            </a:extLst>
          </p:cNvPr>
          <p:cNvSpPr txBox="1"/>
          <p:nvPr/>
        </p:nvSpPr>
        <p:spPr>
          <a:xfrm>
            <a:off x="2772661" y="2200130"/>
            <a:ext cx="1412675" cy="253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1200" b="1" i="0" u="none" strike="noStrike" cap="non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63">
            <a:extLst>
              <a:ext uri="{FF2B5EF4-FFF2-40B4-BE49-F238E27FC236}">
                <a16:creationId xmlns:a16="http://schemas.microsoft.com/office/drawing/2014/main" id="{046A323D-7CDF-0253-3874-732915C870B7}"/>
              </a:ext>
            </a:extLst>
          </p:cNvPr>
          <p:cNvSpPr txBox="1"/>
          <p:nvPr/>
        </p:nvSpPr>
        <p:spPr>
          <a:xfrm>
            <a:off x="3146375" y="1223539"/>
            <a:ext cx="1690369" cy="253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EXPLORATION</a:t>
            </a:r>
            <a:endParaRPr sz="1200" b="0" i="0" u="none" strike="noStrike" cap="none">
              <a:solidFill>
                <a:srgbClr val="0000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4" name="Google Shape;494;p63">
            <a:extLst>
              <a:ext uri="{FF2B5EF4-FFF2-40B4-BE49-F238E27FC236}">
                <a16:creationId xmlns:a16="http://schemas.microsoft.com/office/drawing/2014/main" id="{1E7E5BBE-151B-9BD4-A583-254884ED88C6}"/>
              </a:ext>
            </a:extLst>
          </p:cNvPr>
          <p:cNvSpPr/>
          <p:nvPr/>
        </p:nvSpPr>
        <p:spPr>
          <a:xfrm>
            <a:off x="2431866" y="406695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5" name="Google Shape;495;p63">
            <a:extLst>
              <a:ext uri="{FF2B5EF4-FFF2-40B4-BE49-F238E27FC236}">
                <a16:creationId xmlns:a16="http://schemas.microsoft.com/office/drawing/2014/main" id="{C0788737-FA06-F9BB-2C90-70AE8AEC2FED}"/>
              </a:ext>
            </a:extLst>
          </p:cNvPr>
          <p:cNvSpPr/>
          <p:nvPr/>
        </p:nvSpPr>
        <p:spPr>
          <a:xfrm>
            <a:off x="2335418" y="1315677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6" name="Google Shape;496;p63">
            <a:extLst>
              <a:ext uri="{FF2B5EF4-FFF2-40B4-BE49-F238E27FC236}">
                <a16:creationId xmlns:a16="http://schemas.microsoft.com/office/drawing/2014/main" id="{0FDDEE9A-BEF2-5298-7C47-DC55BFE42294}"/>
              </a:ext>
            </a:extLst>
          </p:cNvPr>
          <p:cNvSpPr/>
          <p:nvPr/>
        </p:nvSpPr>
        <p:spPr>
          <a:xfrm>
            <a:off x="2031713" y="2314664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8" name="Google Shape;498;p63">
            <a:extLst>
              <a:ext uri="{FF2B5EF4-FFF2-40B4-BE49-F238E27FC236}">
                <a16:creationId xmlns:a16="http://schemas.microsoft.com/office/drawing/2014/main" id="{B7D1DAB4-0AC1-482A-23D2-8CC3C6CCCFAC}"/>
              </a:ext>
            </a:extLst>
          </p:cNvPr>
          <p:cNvSpPr/>
          <p:nvPr/>
        </p:nvSpPr>
        <p:spPr>
          <a:xfrm>
            <a:off x="2427975" y="1409124"/>
            <a:ext cx="391554" cy="39155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0700" tIns="10700" rIns="10700" bIns="10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ill Sans"/>
              <a:buNone/>
            </a:pPr>
            <a:endParaRPr sz="8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499" name="Google Shape;499;p63">
            <a:extLst>
              <a:ext uri="{FF2B5EF4-FFF2-40B4-BE49-F238E27FC236}">
                <a16:creationId xmlns:a16="http://schemas.microsoft.com/office/drawing/2014/main" id="{09745722-5365-5C03-E538-F75AD9F6EE78}"/>
              </a:ext>
            </a:extLst>
          </p:cNvPr>
          <p:cNvSpPr/>
          <p:nvPr/>
        </p:nvSpPr>
        <p:spPr>
          <a:xfrm>
            <a:off x="2145900" y="2447572"/>
            <a:ext cx="348300" cy="28495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chemeClr val="tx1"/>
          </a:solidFill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spcFirstLastPara="1" wrap="square" lIns="10700" tIns="10700" rIns="10700" bIns="10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ill Sans"/>
              <a:buNone/>
            </a:pPr>
            <a:endParaRPr sz="8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500" name="Google Shape;500;p63">
            <a:extLst>
              <a:ext uri="{FF2B5EF4-FFF2-40B4-BE49-F238E27FC236}">
                <a16:creationId xmlns:a16="http://schemas.microsoft.com/office/drawing/2014/main" id="{CE51E5E8-6CDF-28C3-DE65-2255EAFB362A}"/>
              </a:ext>
            </a:extLst>
          </p:cNvPr>
          <p:cNvSpPr/>
          <p:nvPr/>
        </p:nvSpPr>
        <p:spPr>
          <a:xfrm>
            <a:off x="1565916" y="3114311"/>
            <a:ext cx="769500" cy="76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02" name="Google Shape;502;p63">
            <a:extLst>
              <a:ext uri="{FF2B5EF4-FFF2-40B4-BE49-F238E27FC236}">
                <a16:creationId xmlns:a16="http://schemas.microsoft.com/office/drawing/2014/main" id="{C82333AD-0E32-C303-5A62-B02E2747E367}"/>
              </a:ext>
            </a:extLst>
          </p:cNvPr>
          <p:cNvSpPr txBox="1"/>
          <p:nvPr/>
        </p:nvSpPr>
        <p:spPr>
          <a:xfrm>
            <a:off x="2427975" y="3165873"/>
            <a:ext cx="1495500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SIMULATION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Google Shape;500;p63">
            <a:extLst>
              <a:ext uri="{FF2B5EF4-FFF2-40B4-BE49-F238E27FC236}">
                <a16:creationId xmlns:a16="http://schemas.microsoft.com/office/drawing/2014/main" id="{E5264F68-E01F-2E55-2462-722FBCEE3CEC}"/>
              </a:ext>
            </a:extLst>
          </p:cNvPr>
          <p:cNvSpPr/>
          <p:nvPr/>
        </p:nvSpPr>
        <p:spPr>
          <a:xfrm>
            <a:off x="1081293" y="3997763"/>
            <a:ext cx="769500" cy="76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B8FADC8-8D34-84A0-23F1-EA5F7DB52991}"/>
              </a:ext>
            </a:extLst>
          </p:cNvPr>
          <p:cNvCxnSpPr>
            <a:cxnSpLocks/>
          </p:cNvCxnSpPr>
          <p:nvPr/>
        </p:nvCxnSpPr>
        <p:spPr>
          <a:xfrm>
            <a:off x="611188" y="708147"/>
            <a:ext cx="16277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432374B-F1E2-68C1-0443-622BB10BFDB8}"/>
              </a:ext>
            </a:extLst>
          </p:cNvPr>
          <p:cNvCxnSpPr>
            <a:cxnSpLocks/>
          </p:cNvCxnSpPr>
          <p:nvPr/>
        </p:nvCxnSpPr>
        <p:spPr>
          <a:xfrm>
            <a:off x="611188" y="1541758"/>
            <a:ext cx="1489871" cy="0"/>
          </a:xfrm>
          <a:prstGeom prst="straightConnector1">
            <a:avLst/>
          </a:prstGeom>
          <a:ln w="889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82EFD2D-20CE-AAC4-E4AD-D6430ECDAD9F}"/>
              </a:ext>
            </a:extLst>
          </p:cNvPr>
          <p:cNvCxnSpPr>
            <a:cxnSpLocks/>
          </p:cNvCxnSpPr>
          <p:nvPr/>
        </p:nvCxnSpPr>
        <p:spPr>
          <a:xfrm>
            <a:off x="604678" y="2575831"/>
            <a:ext cx="1181867" cy="4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000A4E7-C385-835C-4DBC-049C7AB45228}"/>
              </a:ext>
            </a:extLst>
          </p:cNvPr>
          <p:cNvCxnSpPr>
            <a:cxnSpLocks/>
          </p:cNvCxnSpPr>
          <p:nvPr/>
        </p:nvCxnSpPr>
        <p:spPr>
          <a:xfrm>
            <a:off x="611188" y="3499061"/>
            <a:ext cx="7867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9DE76A2-7511-95DF-641B-0A6A6D0B5F1F}"/>
              </a:ext>
            </a:extLst>
          </p:cNvPr>
          <p:cNvCxnSpPr>
            <a:cxnSpLocks/>
          </p:cNvCxnSpPr>
          <p:nvPr/>
        </p:nvCxnSpPr>
        <p:spPr>
          <a:xfrm>
            <a:off x="611188" y="4379460"/>
            <a:ext cx="3703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Google Shape;494;p63">
            <a:extLst>
              <a:ext uri="{FF2B5EF4-FFF2-40B4-BE49-F238E27FC236}">
                <a16:creationId xmlns:a16="http://schemas.microsoft.com/office/drawing/2014/main" id="{8F794C19-BAD2-6EAC-5578-08E7C31CE66C}"/>
              </a:ext>
            </a:extLst>
          </p:cNvPr>
          <p:cNvSpPr/>
          <p:nvPr/>
        </p:nvSpPr>
        <p:spPr>
          <a:xfrm>
            <a:off x="1662366" y="3207479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4" name="Google Shape;494;p63">
            <a:extLst>
              <a:ext uri="{FF2B5EF4-FFF2-40B4-BE49-F238E27FC236}">
                <a16:creationId xmlns:a16="http://schemas.microsoft.com/office/drawing/2014/main" id="{D18283D5-A4F5-F51A-F24A-B9682783ACF6}"/>
              </a:ext>
            </a:extLst>
          </p:cNvPr>
          <p:cNvSpPr/>
          <p:nvPr/>
        </p:nvSpPr>
        <p:spPr>
          <a:xfrm>
            <a:off x="1177743" y="4095146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" name="Google Shape;492;p63">
            <a:extLst>
              <a:ext uri="{FF2B5EF4-FFF2-40B4-BE49-F238E27FC236}">
                <a16:creationId xmlns:a16="http://schemas.microsoft.com/office/drawing/2014/main" id="{B0FC8CF8-354D-EABF-B688-A9711883AB83}"/>
              </a:ext>
            </a:extLst>
          </p:cNvPr>
          <p:cNvSpPr txBox="1"/>
          <p:nvPr/>
        </p:nvSpPr>
        <p:spPr>
          <a:xfrm>
            <a:off x="1952029" y="4083719"/>
            <a:ext cx="1690369" cy="253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FUTURE WORK</a:t>
            </a:r>
            <a:endParaRPr sz="1200" b="0" i="0" u="none" strike="noStrike" cap="none">
              <a:solidFill>
                <a:srgbClr val="0000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39" name="Graphic 38" descr="City outline">
            <a:extLst>
              <a:ext uri="{FF2B5EF4-FFF2-40B4-BE49-F238E27FC236}">
                <a16:creationId xmlns:a16="http://schemas.microsoft.com/office/drawing/2014/main" id="{2100E905-C509-B538-773C-7B8E854BA2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61673" y="411033"/>
            <a:ext cx="514067" cy="514067"/>
          </a:xfrm>
          <a:prstGeom prst="rect">
            <a:avLst/>
          </a:prstGeom>
        </p:spPr>
      </p:pic>
      <p:pic>
        <p:nvPicPr>
          <p:cNvPr id="41" name="Graphic 40" descr="Future with solid fill">
            <a:extLst>
              <a:ext uri="{FF2B5EF4-FFF2-40B4-BE49-F238E27FC236}">
                <a16:creationId xmlns:a16="http://schemas.microsoft.com/office/drawing/2014/main" id="{95BAE03F-E8CE-085D-A2B5-4751C3D45E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2816" y="4146233"/>
            <a:ext cx="466453" cy="466453"/>
          </a:xfrm>
          <a:prstGeom prst="rect">
            <a:avLst/>
          </a:prstGeom>
        </p:spPr>
      </p:pic>
      <p:pic>
        <p:nvPicPr>
          <p:cNvPr id="43" name="Graphic 42" descr="Windy with solid fill">
            <a:extLst>
              <a:ext uri="{FF2B5EF4-FFF2-40B4-BE49-F238E27FC236}">
                <a16:creationId xmlns:a16="http://schemas.microsoft.com/office/drawing/2014/main" id="{90A4CEA7-6147-64A7-D49D-28C0D92207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36326" y="3187540"/>
            <a:ext cx="616477" cy="616477"/>
          </a:xfrm>
          <a:prstGeom prst="rect">
            <a:avLst/>
          </a:prstGeom>
        </p:spPr>
      </p:pic>
      <p:sp>
        <p:nvSpPr>
          <p:cNvPr id="10" name="Google Shape;490;p63">
            <a:extLst>
              <a:ext uri="{FF2B5EF4-FFF2-40B4-BE49-F238E27FC236}">
                <a16:creationId xmlns:a16="http://schemas.microsoft.com/office/drawing/2014/main" id="{178AFD96-5B18-205F-5F8E-14C56854E4F6}"/>
              </a:ext>
            </a:extLst>
          </p:cNvPr>
          <p:cNvSpPr txBox="1"/>
          <p:nvPr/>
        </p:nvSpPr>
        <p:spPr>
          <a:xfrm>
            <a:off x="2744013" y="2497382"/>
            <a:ext cx="5652348" cy="99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s-419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City4CFD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s-419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ANSA scripting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493;p63">
            <a:extLst>
              <a:ext uri="{FF2B5EF4-FFF2-40B4-BE49-F238E27FC236}">
                <a16:creationId xmlns:a16="http://schemas.microsoft.com/office/drawing/2014/main" id="{E1EE0DA4-28AD-3521-ADD9-98D6C19E5FFC}"/>
              </a:ext>
            </a:extLst>
          </p:cNvPr>
          <p:cNvSpPr txBox="1"/>
          <p:nvPr/>
        </p:nvSpPr>
        <p:spPr>
          <a:xfrm>
            <a:off x="3146373" y="1461326"/>
            <a:ext cx="4426819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City4CFD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Open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source</a:t>
            </a: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datasets</a:t>
            </a:r>
            <a:endParaRPr kumimoji="0" lang="es-MX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2" name="Google Shape;493;p63">
            <a:extLst>
              <a:ext uri="{FF2B5EF4-FFF2-40B4-BE49-F238E27FC236}">
                <a16:creationId xmlns:a16="http://schemas.microsoft.com/office/drawing/2014/main" id="{0875C960-CDEA-BE0A-0EB1-8DFE8D9F35E2}"/>
              </a:ext>
            </a:extLst>
          </p:cNvPr>
          <p:cNvSpPr txBox="1"/>
          <p:nvPr/>
        </p:nvSpPr>
        <p:spPr>
          <a:xfrm>
            <a:off x="1944564" y="4291480"/>
            <a:ext cx="4426819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FLIC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3" name="Google Shape;490;p63">
            <a:extLst>
              <a:ext uri="{FF2B5EF4-FFF2-40B4-BE49-F238E27FC236}">
                <a16:creationId xmlns:a16="http://schemas.microsoft.com/office/drawing/2014/main" id="{ED52662F-4C4E-4503-6C87-0814D16826CB}"/>
              </a:ext>
            </a:extLst>
          </p:cNvPr>
          <p:cNvSpPr txBox="1"/>
          <p:nvPr/>
        </p:nvSpPr>
        <p:spPr>
          <a:xfrm>
            <a:off x="2488138" y="3365888"/>
            <a:ext cx="2073950" cy="117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CEDVAL case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Monterrey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endParaRPr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Terrassa case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4" name="Google Shape;493;p63">
            <a:extLst>
              <a:ext uri="{FF2B5EF4-FFF2-40B4-BE49-F238E27FC236}">
                <a16:creationId xmlns:a16="http://schemas.microsoft.com/office/drawing/2014/main" id="{CFB4D6B4-80AA-E79E-D8E5-FFAEB1EC2E53}"/>
              </a:ext>
            </a:extLst>
          </p:cNvPr>
          <p:cNvSpPr txBox="1"/>
          <p:nvPr/>
        </p:nvSpPr>
        <p:spPr>
          <a:xfrm>
            <a:off x="3201366" y="547285"/>
            <a:ext cx="4426819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Expansion</a:t>
            </a: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</a:t>
            </a: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Digital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Twins</a:t>
            </a:r>
            <a:endParaRPr kumimoji="0" lang="es-MX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7820DFF-A03E-D402-4E80-31298E5877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419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4681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719AB-A6E0-5E2D-96C3-173B22254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882473-9E08-3DBF-20AF-25AAAA52D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0B04795-0DE7-4ECC-8A35-5B225D21AD06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3" name="Google Shape;518;p65">
            <a:extLst>
              <a:ext uri="{FF2B5EF4-FFF2-40B4-BE49-F238E27FC236}">
                <a16:creationId xmlns:a16="http://schemas.microsoft.com/office/drawing/2014/main" id="{EFDBB8FF-1DA3-877B-28AC-4300C2EFB6C0}"/>
              </a:ext>
            </a:extLst>
          </p:cNvPr>
          <p:cNvSpPr txBox="1"/>
          <p:nvPr/>
        </p:nvSpPr>
        <p:spPr>
          <a:xfrm>
            <a:off x="484296" y="289021"/>
            <a:ext cx="6840721" cy="57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City4CFD &amp;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lang="es-MX" sz="1800" b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" name="Google Shape;519;p65">
            <a:extLst>
              <a:ext uri="{FF2B5EF4-FFF2-40B4-BE49-F238E27FC236}">
                <a16:creationId xmlns:a16="http://schemas.microsoft.com/office/drawing/2014/main" id="{79205833-6C57-32B1-6F2D-FF9B0D081B43}"/>
              </a:ext>
            </a:extLst>
          </p:cNvPr>
          <p:cNvCxnSpPr/>
          <p:nvPr/>
        </p:nvCxnSpPr>
        <p:spPr>
          <a:xfrm>
            <a:off x="554038" y="577621"/>
            <a:ext cx="24027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520;p65">
            <a:extLst>
              <a:ext uri="{FF2B5EF4-FFF2-40B4-BE49-F238E27FC236}">
                <a16:creationId xmlns:a16="http://schemas.microsoft.com/office/drawing/2014/main" id="{BDFDC082-EE1E-6B4F-601C-34B21068C87D}"/>
              </a:ext>
            </a:extLst>
          </p:cNvPr>
          <p:cNvSpPr txBox="1"/>
          <p:nvPr/>
        </p:nvSpPr>
        <p:spPr>
          <a:xfrm>
            <a:off x="4790115" y="117662"/>
            <a:ext cx="4132870" cy="207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b="1" err="1">
                <a:latin typeface="Times New Roman"/>
                <a:ea typeface="Times New Roman"/>
                <a:cs typeface="Times New Roman"/>
                <a:sym typeface="Times New Roman"/>
              </a:rPr>
              <a:t>Exploration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Simulation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Future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Work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" name="Google Shape;523;p65">
            <a:extLst>
              <a:ext uri="{FF2B5EF4-FFF2-40B4-BE49-F238E27FC236}">
                <a16:creationId xmlns:a16="http://schemas.microsoft.com/office/drawing/2014/main" id="{F749D792-A8F7-97A3-770C-0C67BB268486}"/>
              </a:ext>
            </a:extLst>
          </p:cNvPr>
          <p:cNvCxnSpPr/>
          <p:nvPr/>
        </p:nvCxnSpPr>
        <p:spPr>
          <a:xfrm>
            <a:off x="5713439" y="325381"/>
            <a:ext cx="24756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Rectangle: Rounded Corners 32">
            <a:extLst>
              <a:ext uri="{FF2B5EF4-FFF2-40B4-BE49-F238E27FC236}">
                <a16:creationId xmlns:a16="http://schemas.microsoft.com/office/drawing/2014/main" id="{9C07846B-8386-B65A-8294-95FE4DD0AADC}"/>
              </a:ext>
            </a:extLst>
          </p:cNvPr>
          <p:cNvSpPr/>
          <p:nvPr/>
        </p:nvSpPr>
        <p:spPr>
          <a:xfrm>
            <a:off x="561866" y="720526"/>
            <a:ext cx="3887734" cy="3830205"/>
          </a:xfrm>
          <a:prstGeom prst="roundRect">
            <a:avLst/>
          </a:prstGeom>
          <a:noFill/>
          <a:ln>
            <a:solidFill>
              <a:srgbClr val="0033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33">
            <a:extLst>
              <a:ext uri="{FF2B5EF4-FFF2-40B4-BE49-F238E27FC236}">
                <a16:creationId xmlns:a16="http://schemas.microsoft.com/office/drawing/2014/main" id="{4CE5966D-4285-3541-5B6C-838B5CB06D36}"/>
              </a:ext>
            </a:extLst>
          </p:cNvPr>
          <p:cNvSpPr txBox="1"/>
          <p:nvPr/>
        </p:nvSpPr>
        <p:spPr>
          <a:xfrm>
            <a:off x="1709049" y="732228"/>
            <a:ext cx="159336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latin typeface="+mn-lt"/>
                <a:cs typeface="Times New Roman"/>
              </a:rPr>
              <a:t>City4CFD (TUDELF)</a:t>
            </a:r>
            <a:endParaRPr lang="en-US" b="1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36">
            <a:extLst>
              <a:ext uri="{FF2B5EF4-FFF2-40B4-BE49-F238E27FC236}">
                <a16:creationId xmlns:a16="http://schemas.microsoft.com/office/drawing/2014/main" id="{858F0764-7863-6F6F-599D-3054AAF059DC}"/>
              </a:ext>
            </a:extLst>
          </p:cNvPr>
          <p:cNvSpPr/>
          <p:nvPr/>
        </p:nvSpPr>
        <p:spPr>
          <a:xfrm>
            <a:off x="4655257" y="720525"/>
            <a:ext cx="3934705" cy="3830206"/>
          </a:xfrm>
          <a:prstGeom prst="roundRect">
            <a:avLst/>
          </a:prstGeom>
          <a:noFill/>
          <a:ln>
            <a:solidFill>
              <a:srgbClr val="0033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9332C006-65E7-7BB9-FC26-EE8D69FB7799}"/>
              </a:ext>
            </a:extLst>
          </p:cNvPr>
          <p:cNvSpPr txBox="1"/>
          <p:nvPr/>
        </p:nvSpPr>
        <p:spPr>
          <a:xfrm>
            <a:off x="674411" y="3823448"/>
            <a:ext cx="1833893" cy="6617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600">
                <a:solidFill>
                  <a:srgbClr val="222222"/>
                </a:solidFill>
                <a:latin typeface="Times New Roman"/>
                <a:cs typeface="Times New Roman"/>
              </a:rPr>
              <a:t>Ivan </a:t>
            </a:r>
            <a:r>
              <a:rPr lang="en-GB" sz="600" err="1">
                <a:solidFill>
                  <a:srgbClr val="222222"/>
                </a:solidFill>
                <a:latin typeface="Times New Roman"/>
                <a:cs typeface="Times New Roman"/>
              </a:rPr>
              <a:t>Pađen</a:t>
            </a:r>
            <a:r>
              <a:rPr lang="en-GB" sz="600">
                <a:solidFill>
                  <a:srgbClr val="222222"/>
                </a:solidFill>
                <a:latin typeface="Times New Roman"/>
                <a:cs typeface="Times New Roman"/>
              </a:rPr>
              <a:t>, Ravi Peters, Clara García-Sánchez, and Hugo Ledoux (2024). Automatic high-detailed building reconstruction workflow for urban microscale simulations. Building and Environment, 265, 2024</a:t>
            </a:r>
            <a:endParaRPr lang="en-GB" sz="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7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6DC713A2-6457-A376-3EA9-3B93086E72BF}"/>
              </a:ext>
            </a:extLst>
          </p:cNvPr>
          <p:cNvSpPr txBox="1"/>
          <p:nvPr/>
        </p:nvSpPr>
        <p:spPr>
          <a:xfrm>
            <a:off x="4788166" y="3984571"/>
            <a:ext cx="367085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700">
                <a:solidFill>
                  <a:srgbClr val="222222"/>
                </a:solidFill>
                <a:latin typeface="Times New Roman"/>
                <a:cs typeface="Times New Roman"/>
              </a:rPr>
              <a:t>LiDAR-PNOA-cob3 2022-2025 CC-BY 4.0 </a:t>
            </a:r>
            <a:r>
              <a:rPr lang="en-GB" sz="700" err="1">
                <a:solidFill>
                  <a:srgbClr val="222222"/>
                </a:solidFill>
                <a:latin typeface="Times New Roman"/>
                <a:cs typeface="Times New Roman"/>
              </a:rPr>
              <a:t>Comunidades</a:t>
            </a:r>
            <a:r>
              <a:rPr lang="en-GB" sz="70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lang="en-GB" sz="700" err="1">
                <a:solidFill>
                  <a:srgbClr val="222222"/>
                </a:solidFill>
                <a:latin typeface="Times New Roman"/>
                <a:cs typeface="Times New Roman"/>
              </a:rPr>
              <a:t>autónomas</a:t>
            </a:r>
            <a:r>
              <a:rPr lang="en-GB" sz="700">
                <a:solidFill>
                  <a:srgbClr val="222222"/>
                </a:solidFill>
                <a:latin typeface="Times New Roman"/>
                <a:cs typeface="Times New Roman"/>
              </a:rPr>
              <a:t> y Instituto </a:t>
            </a:r>
            <a:r>
              <a:rPr lang="en-GB" sz="700" err="1">
                <a:solidFill>
                  <a:srgbClr val="222222"/>
                </a:solidFill>
                <a:latin typeface="Times New Roman"/>
                <a:cs typeface="Times New Roman"/>
              </a:rPr>
              <a:t>Geográfico</a:t>
            </a:r>
            <a:r>
              <a:rPr lang="en-GB" sz="700">
                <a:solidFill>
                  <a:srgbClr val="222222"/>
                </a:solidFill>
                <a:latin typeface="Times New Roman"/>
                <a:cs typeface="Times New Roman"/>
              </a:rPr>
              <a:t> Nacional y O.A. CNIG, D.G. de Bosques y </a:t>
            </a:r>
            <a:r>
              <a:rPr lang="en-GB" sz="700" err="1">
                <a:solidFill>
                  <a:srgbClr val="222222"/>
                </a:solidFill>
                <a:latin typeface="Times New Roman"/>
                <a:cs typeface="Times New Roman"/>
              </a:rPr>
              <a:t>Desertificación</a:t>
            </a:r>
            <a:r>
              <a:rPr lang="en-GB" sz="700">
                <a:solidFill>
                  <a:srgbClr val="222222"/>
                </a:solidFill>
                <a:latin typeface="Times New Roman"/>
                <a:cs typeface="Times New Roman"/>
              </a:rPr>
              <a:t>, FEGA, D.G. del </a:t>
            </a:r>
            <a:r>
              <a:rPr lang="en-GB" sz="700" err="1">
                <a:solidFill>
                  <a:srgbClr val="222222"/>
                </a:solidFill>
                <a:latin typeface="Times New Roman"/>
                <a:cs typeface="Times New Roman"/>
              </a:rPr>
              <a:t>Catastro</a:t>
            </a:r>
            <a:r>
              <a:rPr lang="en-GB" sz="700">
                <a:solidFill>
                  <a:srgbClr val="222222"/>
                </a:solidFill>
                <a:latin typeface="Times New Roman"/>
                <a:cs typeface="Times New Roman"/>
              </a:rPr>
              <a:t> y ENAIRE</a:t>
            </a:r>
            <a:endParaRPr lang="es-ES" sz="700">
              <a:solidFill>
                <a:srgbClr val="222222"/>
              </a:solidFill>
              <a:latin typeface="Times New Roman"/>
              <a:cs typeface="Times New Roman"/>
            </a:endParaRPr>
          </a:p>
          <a:p>
            <a:r>
              <a:rPr lang="en-GB" sz="700">
                <a:solidFill>
                  <a:srgbClr val="222222"/>
                </a:solidFill>
                <a:latin typeface="Times New Roman"/>
                <a:cs typeface="Times New Roman"/>
              </a:rPr>
              <a:t>Obra </a:t>
            </a:r>
            <a:r>
              <a:rPr lang="en-GB" sz="700" err="1">
                <a:solidFill>
                  <a:srgbClr val="222222"/>
                </a:solidFill>
                <a:latin typeface="Times New Roman"/>
                <a:cs typeface="Times New Roman"/>
              </a:rPr>
              <a:t>derivada</a:t>
            </a:r>
            <a:r>
              <a:rPr lang="en-GB" sz="700">
                <a:solidFill>
                  <a:srgbClr val="222222"/>
                </a:solidFill>
                <a:latin typeface="Times New Roman"/>
                <a:cs typeface="Times New Roman"/>
              </a:rPr>
              <a:t> de LiDAR-PNOA-cob3 2022-2025 CC-BY 4.0 </a:t>
            </a:r>
            <a:r>
              <a:rPr lang="en-GB" sz="700">
                <a:solidFill>
                  <a:srgbClr val="222222"/>
                </a:solidFill>
                <a:latin typeface="Times New Roman"/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scne.es</a:t>
            </a:r>
          </a:p>
          <a:p>
            <a:endParaRPr lang="en-GB" sz="7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n 23" descr="Mapa&#10;&#10;El contenido generado por IA puede ser incorrecto.">
            <a:extLst>
              <a:ext uri="{FF2B5EF4-FFF2-40B4-BE49-F238E27FC236}">
                <a16:creationId xmlns:a16="http://schemas.microsoft.com/office/drawing/2014/main" id="{2CE5D4DA-AE37-579F-260A-E2FCC4084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75" y="1007956"/>
            <a:ext cx="2074506" cy="1377863"/>
          </a:xfrm>
          <a:prstGeom prst="rect">
            <a:avLst/>
          </a:prstGeom>
        </p:spPr>
      </p:pic>
      <p:pic>
        <p:nvPicPr>
          <p:cNvPr id="26" name="Imagen 25" descr="https://www.frontiersin.org/files/Articles/899332/fbuil-08-899332-HTML/image_m/fbuil-08-899332-g001.jpg">
            <a:extLst>
              <a:ext uri="{FF2B5EF4-FFF2-40B4-BE49-F238E27FC236}">
                <a16:creationId xmlns:a16="http://schemas.microsoft.com/office/drawing/2014/main" id="{F8B5266B-852B-7686-0971-9072EAD4E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74" y="1007956"/>
            <a:ext cx="3665077" cy="1202087"/>
          </a:xfrm>
          <a:prstGeom prst="rect">
            <a:avLst/>
          </a:prstGeom>
        </p:spPr>
      </p:pic>
      <p:pic>
        <p:nvPicPr>
          <p:cNvPr id="28" name="Imagen 27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96AE9DF7-D6E2-A7B9-2B17-4FDD9777F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1549" y="2464824"/>
            <a:ext cx="3762385" cy="667727"/>
          </a:xfrm>
          <a:prstGeom prst="rect">
            <a:avLst/>
          </a:prstGeom>
        </p:spPr>
      </p:pic>
      <p:pic>
        <p:nvPicPr>
          <p:cNvPr id="2" name="Imagen 1" descr="Imagen que contiene lego, juguete&#10;&#10;El contenido generado por IA puede ser incorrecto.">
            <a:extLst>
              <a:ext uri="{FF2B5EF4-FFF2-40B4-BE49-F238E27FC236}">
                <a16:creationId xmlns:a16="http://schemas.microsoft.com/office/drawing/2014/main" id="{9A5121C9-D8EF-43CA-F04F-1187665CEB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9185" y="2318993"/>
            <a:ext cx="1847516" cy="1925409"/>
          </a:xfrm>
          <a:prstGeom prst="rect">
            <a:avLst/>
          </a:prstGeom>
        </p:spPr>
      </p:pic>
      <p:pic>
        <p:nvPicPr>
          <p:cNvPr id="4" name="Gráfico 3" descr="Desbloquear con relleno sólido">
            <a:extLst>
              <a:ext uri="{FF2B5EF4-FFF2-40B4-BE49-F238E27FC236}">
                <a16:creationId xmlns:a16="http://schemas.microsoft.com/office/drawing/2014/main" id="{8431249F-ADF5-B1D8-72F5-E9234A58DD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079" y="2440975"/>
            <a:ext cx="288101" cy="26461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FA48263-613B-BBAC-BAF0-DEC85F43DA5F}"/>
              </a:ext>
            </a:extLst>
          </p:cNvPr>
          <p:cNvSpPr txBox="1"/>
          <p:nvPr/>
        </p:nvSpPr>
        <p:spPr>
          <a:xfrm>
            <a:off x="939451" y="2434746"/>
            <a:ext cx="12760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200">
                <a:latin typeface="+mn-lt"/>
              </a:rPr>
              <a:t>Open </a:t>
            </a:r>
            <a:r>
              <a:rPr lang="es-ES" sz="1200" err="1">
                <a:latin typeface="+mn-lt"/>
              </a:rPr>
              <a:t>source</a:t>
            </a:r>
            <a:endParaRPr lang="es-ES" sz="1200">
              <a:latin typeface="+mn-lt"/>
            </a:endParaRPr>
          </a:p>
        </p:txBody>
      </p:sp>
      <p:pic>
        <p:nvPicPr>
          <p:cNvPr id="17" name="Gráfico 16" descr="Mano abierta con planta con relleno sólido">
            <a:extLst>
              <a:ext uri="{FF2B5EF4-FFF2-40B4-BE49-F238E27FC236}">
                <a16:creationId xmlns:a16="http://schemas.microsoft.com/office/drawing/2014/main" id="{B4582159-F08A-30B0-D0A9-80FC6516C8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88075" y="3132289"/>
            <a:ext cx="374216" cy="350730"/>
          </a:xfrm>
          <a:prstGeom prst="rect">
            <a:avLst/>
          </a:prstGeom>
        </p:spPr>
      </p:pic>
      <p:pic>
        <p:nvPicPr>
          <p:cNvPr id="19" name="Gráfico 18" descr="Cerebro izquierdo con relleno sólido">
            <a:extLst>
              <a:ext uri="{FF2B5EF4-FFF2-40B4-BE49-F238E27FC236}">
                <a16:creationId xmlns:a16="http://schemas.microsoft.com/office/drawing/2014/main" id="{D40A4F7E-28D5-BFDA-2FA1-7001DD6B173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7971" y="2928740"/>
            <a:ext cx="280271" cy="335073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E479B56F-FEAB-DA72-B62E-2199ED33508E}"/>
              </a:ext>
            </a:extLst>
          </p:cNvPr>
          <p:cNvSpPr txBox="1"/>
          <p:nvPr/>
        </p:nvSpPr>
        <p:spPr>
          <a:xfrm>
            <a:off x="962936" y="2794869"/>
            <a:ext cx="14404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200">
                <a:latin typeface="+mn-lt"/>
              </a:rPr>
              <a:t>Easy </a:t>
            </a:r>
            <a:r>
              <a:rPr lang="es-ES" sz="1200" err="1">
                <a:latin typeface="+mn-lt"/>
              </a:rPr>
              <a:t>integration</a:t>
            </a:r>
            <a:r>
              <a:rPr lang="es-ES" sz="1200">
                <a:latin typeface="+mn-lt"/>
              </a:rPr>
              <a:t> </a:t>
            </a:r>
            <a:r>
              <a:rPr lang="es-ES" sz="1200" err="1">
                <a:latin typeface="+mn-lt"/>
              </a:rPr>
              <a:t>with</a:t>
            </a:r>
            <a:r>
              <a:rPr lang="es-ES" sz="1200">
                <a:latin typeface="+mn-lt"/>
              </a:rPr>
              <a:t> </a:t>
            </a:r>
            <a:r>
              <a:rPr lang="es-ES" sz="1200" err="1">
                <a:latin typeface="+mn-lt"/>
              </a:rPr>
              <a:t>other</a:t>
            </a:r>
            <a:r>
              <a:rPr lang="es-ES" sz="1200">
                <a:latin typeface="+mn-lt"/>
              </a:rPr>
              <a:t> </a:t>
            </a:r>
            <a:r>
              <a:rPr lang="es-ES" sz="1200" err="1">
                <a:latin typeface="+mn-lt"/>
              </a:rPr>
              <a:t>programming</a:t>
            </a:r>
            <a:r>
              <a:rPr lang="es-ES" sz="1200">
                <a:latin typeface="+mn-lt"/>
              </a:rPr>
              <a:t> </a:t>
            </a:r>
            <a:r>
              <a:rPr lang="es-ES" sz="1200" err="1">
                <a:latin typeface="+mn-lt"/>
              </a:rPr>
              <a:t>languages</a:t>
            </a:r>
            <a:endParaRPr lang="es-ES" sz="1200">
              <a:latin typeface="+mn-lt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5A6EEEA-8055-D0F3-DC84-824F280B71F3}"/>
              </a:ext>
            </a:extLst>
          </p:cNvPr>
          <p:cNvSpPr txBox="1"/>
          <p:nvPr/>
        </p:nvSpPr>
        <p:spPr>
          <a:xfrm>
            <a:off x="5253101" y="3170650"/>
            <a:ext cx="12760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200" err="1">
                <a:latin typeface="+mn-lt"/>
              </a:rPr>
              <a:t>Public</a:t>
            </a:r>
            <a:r>
              <a:rPr lang="es-ES" sz="1200">
                <a:latin typeface="+mn-lt"/>
              </a:rPr>
              <a:t> </a:t>
            </a:r>
            <a:r>
              <a:rPr lang="es-ES" sz="1200" err="1">
                <a:latin typeface="+mn-lt"/>
              </a:rPr>
              <a:t>access</a:t>
            </a:r>
            <a:endParaRPr lang="es-ES" sz="1200">
              <a:latin typeface="+mn-lt"/>
            </a:endParaRPr>
          </a:p>
        </p:txBody>
      </p:sp>
      <p:pic>
        <p:nvPicPr>
          <p:cNvPr id="25" name="Gráfico 24" descr="Futuro con relleno sólido">
            <a:extLst>
              <a:ext uri="{FF2B5EF4-FFF2-40B4-BE49-F238E27FC236}">
                <a16:creationId xmlns:a16="http://schemas.microsoft.com/office/drawing/2014/main" id="{7B255B77-FACB-EFCA-1864-C0699DA562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88075" y="3484584"/>
            <a:ext cx="397701" cy="335072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E3701151-00B3-59C7-AC38-AE088278C38A}"/>
              </a:ext>
            </a:extLst>
          </p:cNvPr>
          <p:cNvSpPr txBox="1"/>
          <p:nvPr/>
        </p:nvSpPr>
        <p:spPr>
          <a:xfrm>
            <a:off x="5245271" y="3515115"/>
            <a:ext cx="160489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200">
                <a:latin typeface="+mn-lt"/>
              </a:rPr>
              <a:t>Long-</a:t>
            </a:r>
            <a:r>
              <a:rPr lang="es-ES" sz="1200" err="1">
                <a:latin typeface="+mn-lt"/>
              </a:rPr>
              <a:t>term</a:t>
            </a:r>
            <a:r>
              <a:rPr lang="es-ES" sz="1200">
                <a:latin typeface="+mn-lt"/>
              </a:rPr>
              <a:t> </a:t>
            </a:r>
            <a:r>
              <a:rPr lang="es-ES" sz="1200" err="1">
                <a:latin typeface="+mn-lt"/>
              </a:rPr>
              <a:t>plans</a:t>
            </a:r>
          </a:p>
        </p:txBody>
      </p:sp>
      <p:sp>
        <p:nvSpPr>
          <p:cNvPr id="11" name="TextBox 33">
            <a:extLst>
              <a:ext uri="{FF2B5EF4-FFF2-40B4-BE49-F238E27FC236}">
                <a16:creationId xmlns:a16="http://schemas.microsoft.com/office/drawing/2014/main" id="{63FE6F3C-BAB1-74BD-E998-8E07F1F204B9}"/>
              </a:ext>
            </a:extLst>
          </p:cNvPr>
          <p:cNvSpPr txBox="1"/>
          <p:nvPr/>
        </p:nvSpPr>
        <p:spPr>
          <a:xfrm>
            <a:off x="6174626" y="707945"/>
            <a:ext cx="134272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latin typeface="+mn-lt"/>
                <a:cs typeface="Times New Roman"/>
              </a:rPr>
              <a:t>Public Datasets</a:t>
            </a:r>
            <a:endParaRPr lang="en-US" b="1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13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6" grpId="0" animBg="1"/>
      <p:bldP spid="20" grpId="0"/>
      <p:bldP spid="22" grpId="0"/>
      <p:bldP spid="7" grpId="0"/>
      <p:bldP spid="21" grpId="0"/>
      <p:bldP spid="23" grpId="0"/>
      <p:bldP spid="2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>
          <a:extLst>
            <a:ext uri="{FF2B5EF4-FFF2-40B4-BE49-F238E27FC236}">
              <a16:creationId xmlns:a16="http://schemas.microsoft.com/office/drawing/2014/main" id="{3C51BECE-7901-7E5A-1698-67E176480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>
            <a:extLst>
              <a:ext uri="{FF2B5EF4-FFF2-40B4-BE49-F238E27FC236}">
                <a16:creationId xmlns:a16="http://schemas.microsoft.com/office/drawing/2014/main" id="{CDC709D7-A82C-06D5-4309-2162898CB98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-2177759" y="2177760"/>
            <a:ext cx="5118308" cy="762788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B9F9C88-982B-7178-4E1D-B4DDAA7F6C3B}"/>
              </a:ext>
            </a:extLst>
          </p:cNvPr>
          <p:cNvSpPr/>
          <p:nvPr/>
        </p:nvSpPr>
        <p:spPr>
          <a:xfrm>
            <a:off x="368198" y="-12702"/>
            <a:ext cx="2401861" cy="5131010"/>
          </a:xfrm>
          <a:custGeom>
            <a:avLst/>
            <a:gdLst>
              <a:gd name="connsiteX0" fmla="*/ 0 w 514350"/>
              <a:gd name="connsiteY0" fmla="*/ 139700 h 139700"/>
              <a:gd name="connsiteX1" fmla="*/ 514350 w 514350"/>
              <a:gd name="connsiteY1" fmla="*/ 0 h 13970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41913"/>
              <a:gd name="connsiteY0" fmla="*/ 142192 h 142192"/>
              <a:gd name="connsiteX1" fmla="*/ 441913 w 441913"/>
              <a:gd name="connsiteY1" fmla="*/ 0 h 142192"/>
              <a:gd name="connsiteX0" fmla="*/ 0 w 441913"/>
              <a:gd name="connsiteY0" fmla="*/ 142192 h 142192"/>
              <a:gd name="connsiteX1" fmla="*/ 441913 w 441913"/>
              <a:gd name="connsiteY1" fmla="*/ 0 h 14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1913" h="142192">
                <a:moveTo>
                  <a:pt x="0" y="142192"/>
                </a:moveTo>
                <a:cubicBezTo>
                  <a:pt x="208491" y="132138"/>
                  <a:pt x="436222" y="91909"/>
                  <a:pt x="441913" y="0"/>
                </a:cubicBezTo>
              </a:path>
            </a:pathLst>
          </a:cu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2714582-DB74-10B1-0EA5-CC09AFAA70DF}"/>
              </a:ext>
            </a:extLst>
          </p:cNvPr>
          <p:cNvSpPr/>
          <p:nvPr/>
        </p:nvSpPr>
        <p:spPr>
          <a:xfrm>
            <a:off x="2796983" y="2193310"/>
            <a:ext cx="1388353" cy="2606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Google Shape;483;p63">
            <a:extLst>
              <a:ext uri="{FF2B5EF4-FFF2-40B4-BE49-F238E27FC236}">
                <a16:creationId xmlns:a16="http://schemas.microsoft.com/office/drawing/2014/main" id="{F7410E1B-FAF6-BDF6-6243-3394D83A6C64}"/>
              </a:ext>
            </a:extLst>
          </p:cNvPr>
          <p:cNvSpPr/>
          <p:nvPr/>
        </p:nvSpPr>
        <p:spPr>
          <a:xfrm>
            <a:off x="2335416" y="310245"/>
            <a:ext cx="769500" cy="7695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84" name="Google Shape;484;p63">
            <a:extLst>
              <a:ext uri="{FF2B5EF4-FFF2-40B4-BE49-F238E27FC236}">
                <a16:creationId xmlns:a16="http://schemas.microsoft.com/office/drawing/2014/main" id="{306B9EE4-FB9D-D154-321F-D417D42144E4}"/>
              </a:ext>
            </a:extLst>
          </p:cNvPr>
          <p:cNvSpPr/>
          <p:nvPr/>
        </p:nvSpPr>
        <p:spPr>
          <a:xfrm>
            <a:off x="2238966" y="1216049"/>
            <a:ext cx="769500" cy="76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85" name="Google Shape;485;p63">
            <a:extLst>
              <a:ext uri="{FF2B5EF4-FFF2-40B4-BE49-F238E27FC236}">
                <a16:creationId xmlns:a16="http://schemas.microsoft.com/office/drawing/2014/main" id="{D89D805D-86E5-4719-CAB9-F27BEAD3FF65}"/>
              </a:ext>
            </a:extLst>
          </p:cNvPr>
          <p:cNvSpPr/>
          <p:nvPr/>
        </p:nvSpPr>
        <p:spPr>
          <a:xfrm>
            <a:off x="1944564" y="2218928"/>
            <a:ext cx="769500" cy="769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86" name="Google Shape;486;p63">
            <a:extLst>
              <a:ext uri="{FF2B5EF4-FFF2-40B4-BE49-F238E27FC236}">
                <a16:creationId xmlns:a16="http://schemas.microsoft.com/office/drawing/2014/main" id="{5495A343-737A-94BE-F08B-68DC9B2F4869}"/>
              </a:ext>
            </a:extLst>
          </p:cNvPr>
          <p:cNvSpPr txBox="1"/>
          <p:nvPr/>
        </p:nvSpPr>
        <p:spPr>
          <a:xfrm>
            <a:off x="6962057" y="102337"/>
            <a:ext cx="1553293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3000"/>
              <a:buFont typeface="Open Sans"/>
              <a:buNone/>
            </a:pPr>
            <a:r>
              <a:rPr lang="en-US" sz="3000" b="1" cap="small">
                <a:solidFill>
                  <a:srgbClr val="44546A"/>
                </a:solidFill>
                <a:latin typeface="Open Sans"/>
                <a:ea typeface="Open Sans"/>
                <a:cs typeface="Open Sans"/>
                <a:sym typeface="Open Sans"/>
              </a:rPr>
              <a:t>outline</a:t>
            </a:r>
            <a:endParaRPr lang="en-US" sz="1100"/>
          </a:p>
        </p:txBody>
      </p:sp>
      <p:sp>
        <p:nvSpPr>
          <p:cNvPr id="487" name="Google Shape;487;p63">
            <a:extLst>
              <a:ext uri="{FF2B5EF4-FFF2-40B4-BE49-F238E27FC236}">
                <a16:creationId xmlns:a16="http://schemas.microsoft.com/office/drawing/2014/main" id="{805858C4-CA38-363C-A1FA-1D169B6B1FE2}"/>
              </a:ext>
            </a:extLst>
          </p:cNvPr>
          <p:cNvSpPr txBox="1"/>
          <p:nvPr/>
        </p:nvSpPr>
        <p:spPr>
          <a:xfrm>
            <a:off x="3201366" y="319920"/>
            <a:ext cx="1889923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MX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BACKGROUND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endParaRPr lang="es-419" sz="120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br>
              <a:rPr lang="es-419" sz="12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s-419" sz="1200" b="1" i="0" u="none" strike="noStrike" cap="none">
                <a:solidFill>
                  <a:srgbClr val="70AD47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9" name="Google Shape;489;p63">
            <a:extLst>
              <a:ext uri="{FF2B5EF4-FFF2-40B4-BE49-F238E27FC236}">
                <a16:creationId xmlns:a16="http://schemas.microsoft.com/office/drawing/2014/main" id="{94038727-101E-6D50-ED2A-EE61994AC8C1}"/>
              </a:ext>
            </a:extLst>
          </p:cNvPr>
          <p:cNvSpPr txBox="1"/>
          <p:nvPr/>
        </p:nvSpPr>
        <p:spPr>
          <a:xfrm>
            <a:off x="2772661" y="2200130"/>
            <a:ext cx="1412675" cy="253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1200" b="1" i="0" u="none" strike="noStrike" cap="non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63">
            <a:extLst>
              <a:ext uri="{FF2B5EF4-FFF2-40B4-BE49-F238E27FC236}">
                <a16:creationId xmlns:a16="http://schemas.microsoft.com/office/drawing/2014/main" id="{2D1BBC91-21A5-83FF-766B-3ED1416E7AD4}"/>
              </a:ext>
            </a:extLst>
          </p:cNvPr>
          <p:cNvSpPr txBox="1"/>
          <p:nvPr/>
        </p:nvSpPr>
        <p:spPr>
          <a:xfrm>
            <a:off x="3146375" y="1223539"/>
            <a:ext cx="1690369" cy="253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EXPLORATION</a:t>
            </a:r>
            <a:endParaRPr sz="1200" b="0" i="0" u="none" strike="noStrike" cap="none">
              <a:solidFill>
                <a:srgbClr val="0000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4" name="Google Shape;494;p63">
            <a:extLst>
              <a:ext uri="{FF2B5EF4-FFF2-40B4-BE49-F238E27FC236}">
                <a16:creationId xmlns:a16="http://schemas.microsoft.com/office/drawing/2014/main" id="{4410DD67-8911-F83B-3919-DC8476306874}"/>
              </a:ext>
            </a:extLst>
          </p:cNvPr>
          <p:cNvSpPr/>
          <p:nvPr/>
        </p:nvSpPr>
        <p:spPr>
          <a:xfrm>
            <a:off x="2431866" y="406695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5" name="Google Shape;495;p63">
            <a:extLst>
              <a:ext uri="{FF2B5EF4-FFF2-40B4-BE49-F238E27FC236}">
                <a16:creationId xmlns:a16="http://schemas.microsoft.com/office/drawing/2014/main" id="{F6463E92-6303-3872-29A2-4A61A7489318}"/>
              </a:ext>
            </a:extLst>
          </p:cNvPr>
          <p:cNvSpPr/>
          <p:nvPr/>
        </p:nvSpPr>
        <p:spPr>
          <a:xfrm>
            <a:off x="2335418" y="1315677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6" name="Google Shape;496;p63">
            <a:extLst>
              <a:ext uri="{FF2B5EF4-FFF2-40B4-BE49-F238E27FC236}">
                <a16:creationId xmlns:a16="http://schemas.microsoft.com/office/drawing/2014/main" id="{954A05F5-738E-BDF4-8EED-F1EEE7111629}"/>
              </a:ext>
            </a:extLst>
          </p:cNvPr>
          <p:cNvSpPr/>
          <p:nvPr/>
        </p:nvSpPr>
        <p:spPr>
          <a:xfrm>
            <a:off x="2031713" y="2314664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8" name="Google Shape;498;p63">
            <a:extLst>
              <a:ext uri="{FF2B5EF4-FFF2-40B4-BE49-F238E27FC236}">
                <a16:creationId xmlns:a16="http://schemas.microsoft.com/office/drawing/2014/main" id="{E650B6CE-386B-E695-6EF7-373CF54FEBE3}"/>
              </a:ext>
            </a:extLst>
          </p:cNvPr>
          <p:cNvSpPr/>
          <p:nvPr/>
        </p:nvSpPr>
        <p:spPr>
          <a:xfrm>
            <a:off x="2427975" y="1409124"/>
            <a:ext cx="391554" cy="39155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0700" tIns="10700" rIns="10700" bIns="10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ill Sans"/>
              <a:buNone/>
            </a:pPr>
            <a:endParaRPr sz="8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499" name="Google Shape;499;p63">
            <a:extLst>
              <a:ext uri="{FF2B5EF4-FFF2-40B4-BE49-F238E27FC236}">
                <a16:creationId xmlns:a16="http://schemas.microsoft.com/office/drawing/2014/main" id="{E48AAE7A-994D-0035-4C82-F05897C40E5C}"/>
              </a:ext>
            </a:extLst>
          </p:cNvPr>
          <p:cNvSpPr/>
          <p:nvPr/>
        </p:nvSpPr>
        <p:spPr>
          <a:xfrm>
            <a:off x="2145900" y="2447572"/>
            <a:ext cx="348300" cy="28495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chemeClr val="tx1"/>
          </a:solidFill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spcFirstLastPara="1" wrap="square" lIns="10700" tIns="10700" rIns="10700" bIns="10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ill Sans"/>
              <a:buNone/>
            </a:pPr>
            <a:endParaRPr sz="8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500" name="Google Shape;500;p63">
            <a:extLst>
              <a:ext uri="{FF2B5EF4-FFF2-40B4-BE49-F238E27FC236}">
                <a16:creationId xmlns:a16="http://schemas.microsoft.com/office/drawing/2014/main" id="{D69607C0-4F73-4FF2-8399-21C7B2C33D9B}"/>
              </a:ext>
            </a:extLst>
          </p:cNvPr>
          <p:cNvSpPr/>
          <p:nvPr/>
        </p:nvSpPr>
        <p:spPr>
          <a:xfrm>
            <a:off x="1565916" y="3114311"/>
            <a:ext cx="769500" cy="76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02" name="Google Shape;502;p63">
            <a:extLst>
              <a:ext uri="{FF2B5EF4-FFF2-40B4-BE49-F238E27FC236}">
                <a16:creationId xmlns:a16="http://schemas.microsoft.com/office/drawing/2014/main" id="{C802125C-7458-2071-2AA6-F4A0A239B72B}"/>
              </a:ext>
            </a:extLst>
          </p:cNvPr>
          <p:cNvSpPr txBox="1"/>
          <p:nvPr/>
        </p:nvSpPr>
        <p:spPr>
          <a:xfrm>
            <a:off x="2427975" y="3165873"/>
            <a:ext cx="1495500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SIMULATION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Google Shape;500;p63">
            <a:extLst>
              <a:ext uri="{FF2B5EF4-FFF2-40B4-BE49-F238E27FC236}">
                <a16:creationId xmlns:a16="http://schemas.microsoft.com/office/drawing/2014/main" id="{DCECF44B-A5E5-1AEE-7DF1-6B1D2543A1AF}"/>
              </a:ext>
            </a:extLst>
          </p:cNvPr>
          <p:cNvSpPr/>
          <p:nvPr/>
        </p:nvSpPr>
        <p:spPr>
          <a:xfrm>
            <a:off x="1081293" y="3997763"/>
            <a:ext cx="769500" cy="76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8299F2D-9C92-A23D-F2EC-5B66918A11ED}"/>
              </a:ext>
            </a:extLst>
          </p:cNvPr>
          <p:cNvCxnSpPr>
            <a:cxnSpLocks/>
          </p:cNvCxnSpPr>
          <p:nvPr/>
        </p:nvCxnSpPr>
        <p:spPr>
          <a:xfrm>
            <a:off x="611188" y="708147"/>
            <a:ext cx="16277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75E5687-1F4E-A0E0-45BE-B559E47A13A7}"/>
              </a:ext>
            </a:extLst>
          </p:cNvPr>
          <p:cNvCxnSpPr>
            <a:cxnSpLocks/>
          </p:cNvCxnSpPr>
          <p:nvPr/>
        </p:nvCxnSpPr>
        <p:spPr>
          <a:xfrm>
            <a:off x="611188" y="1541758"/>
            <a:ext cx="14898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F6A31FD-FDFD-97E4-C366-C9C1FEF8A696}"/>
              </a:ext>
            </a:extLst>
          </p:cNvPr>
          <p:cNvCxnSpPr>
            <a:cxnSpLocks/>
          </p:cNvCxnSpPr>
          <p:nvPr/>
        </p:nvCxnSpPr>
        <p:spPr>
          <a:xfrm>
            <a:off x="604678" y="2575831"/>
            <a:ext cx="1181867" cy="4216"/>
          </a:xfrm>
          <a:prstGeom prst="straightConnector1">
            <a:avLst/>
          </a:prstGeom>
          <a:ln w="889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FE20E53-8330-EF99-17E2-35B3A54E227D}"/>
              </a:ext>
            </a:extLst>
          </p:cNvPr>
          <p:cNvCxnSpPr>
            <a:cxnSpLocks/>
          </p:cNvCxnSpPr>
          <p:nvPr/>
        </p:nvCxnSpPr>
        <p:spPr>
          <a:xfrm>
            <a:off x="611188" y="3499061"/>
            <a:ext cx="7867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9DEE5D7-2B2B-DCAB-1308-F60B29809EE1}"/>
              </a:ext>
            </a:extLst>
          </p:cNvPr>
          <p:cNvCxnSpPr>
            <a:cxnSpLocks/>
          </p:cNvCxnSpPr>
          <p:nvPr/>
        </p:nvCxnSpPr>
        <p:spPr>
          <a:xfrm>
            <a:off x="611188" y="4379460"/>
            <a:ext cx="3703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Google Shape;494;p63">
            <a:extLst>
              <a:ext uri="{FF2B5EF4-FFF2-40B4-BE49-F238E27FC236}">
                <a16:creationId xmlns:a16="http://schemas.microsoft.com/office/drawing/2014/main" id="{24FB7861-C2E1-2926-9D1E-AE897CE61053}"/>
              </a:ext>
            </a:extLst>
          </p:cNvPr>
          <p:cNvSpPr/>
          <p:nvPr/>
        </p:nvSpPr>
        <p:spPr>
          <a:xfrm>
            <a:off x="1662366" y="3207479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4" name="Google Shape;494;p63">
            <a:extLst>
              <a:ext uri="{FF2B5EF4-FFF2-40B4-BE49-F238E27FC236}">
                <a16:creationId xmlns:a16="http://schemas.microsoft.com/office/drawing/2014/main" id="{26BE12FD-7D39-B583-2DF5-F654895E7DEC}"/>
              </a:ext>
            </a:extLst>
          </p:cNvPr>
          <p:cNvSpPr/>
          <p:nvPr/>
        </p:nvSpPr>
        <p:spPr>
          <a:xfrm>
            <a:off x="1177743" y="4095146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" name="Google Shape;492;p63">
            <a:extLst>
              <a:ext uri="{FF2B5EF4-FFF2-40B4-BE49-F238E27FC236}">
                <a16:creationId xmlns:a16="http://schemas.microsoft.com/office/drawing/2014/main" id="{ED20219D-3D26-21A8-077D-0956293BC2C0}"/>
              </a:ext>
            </a:extLst>
          </p:cNvPr>
          <p:cNvSpPr txBox="1"/>
          <p:nvPr/>
        </p:nvSpPr>
        <p:spPr>
          <a:xfrm>
            <a:off x="1944566" y="4136684"/>
            <a:ext cx="1690369" cy="253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FUTURE WORK</a:t>
            </a:r>
            <a:endParaRPr sz="1200" b="0" i="0" u="none" strike="noStrike" cap="none">
              <a:solidFill>
                <a:srgbClr val="0000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39" name="Graphic 38" descr="City outline">
            <a:extLst>
              <a:ext uri="{FF2B5EF4-FFF2-40B4-BE49-F238E27FC236}">
                <a16:creationId xmlns:a16="http://schemas.microsoft.com/office/drawing/2014/main" id="{FF10F2A7-4110-C7D6-28FE-84863B29F2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61673" y="411033"/>
            <a:ext cx="514067" cy="514067"/>
          </a:xfrm>
          <a:prstGeom prst="rect">
            <a:avLst/>
          </a:prstGeom>
        </p:spPr>
      </p:pic>
      <p:pic>
        <p:nvPicPr>
          <p:cNvPr id="41" name="Graphic 40" descr="Future with solid fill">
            <a:extLst>
              <a:ext uri="{FF2B5EF4-FFF2-40B4-BE49-F238E27FC236}">
                <a16:creationId xmlns:a16="http://schemas.microsoft.com/office/drawing/2014/main" id="{BADA965D-1008-2329-6079-8A7780C1A2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2816" y="4146233"/>
            <a:ext cx="466453" cy="466453"/>
          </a:xfrm>
          <a:prstGeom prst="rect">
            <a:avLst/>
          </a:prstGeom>
        </p:spPr>
      </p:pic>
      <p:pic>
        <p:nvPicPr>
          <p:cNvPr id="43" name="Graphic 42" descr="Windy with solid fill">
            <a:extLst>
              <a:ext uri="{FF2B5EF4-FFF2-40B4-BE49-F238E27FC236}">
                <a16:creationId xmlns:a16="http://schemas.microsoft.com/office/drawing/2014/main" id="{F91D5DE3-C8B7-8CAB-A98B-1DF05F42F2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36326" y="3187540"/>
            <a:ext cx="616477" cy="616477"/>
          </a:xfrm>
          <a:prstGeom prst="rect">
            <a:avLst/>
          </a:prstGeom>
        </p:spPr>
      </p:pic>
      <p:sp>
        <p:nvSpPr>
          <p:cNvPr id="9" name="Google Shape;490;p63">
            <a:extLst>
              <a:ext uri="{FF2B5EF4-FFF2-40B4-BE49-F238E27FC236}">
                <a16:creationId xmlns:a16="http://schemas.microsoft.com/office/drawing/2014/main" id="{7371F617-9980-8346-8DE7-3F91C9AA584D}"/>
              </a:ext>
            </a:extLst>
          </p:cNvPr>
          <p:cNvSpPr txBox="1"/>
          <p:nvPr/>
        </p:nvSpPr>
        <p:spPr>
          <a:xfrm>
            <a:off x="2744013" y="2497382"/>
            <a:ext cx="5652348" cy="99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s-419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City4CFD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s-419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ANSA scripting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493;p63">
            <a:extLst>
              <a:ext uri="{FF2B5EF4-FFF2-40B4-BE49-F238E27FC236}">
                <a16:creationId xmlns:a16="http://schemas.microsoft.com/office/drawing/2014/main" id="{6BCCDCE1-AEAB-04A1-2E0E-0E41DB1D4675}"/>
              </a:ext>
            </a:extLst>
          </p:cNvPr>
          <p:cNvSpPr txBox="1"/>
          <p:nvPr/>
        </p:nvSpPr>
        <p:spPr>
          <a:xfrm>
            <a:off x="3146373" y="1431300"/>
            <a:ext cx="4426819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City4CFD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Open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source</a:t>
            </a: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datasets</a:t>
            </a:r>
            <a:endParaRPr kumimoji="0" lang="es-MX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" name="Google Shape;493;p63">
            <a:extLst>
              <a:ext uri="{FF2B5EF4-FFF2-40B4-BE49-F238E27FC236}">
                <a16:creationId xmlns:a16="http://schemas.microsoft.com/office/drawing/2014/main" id="{77AF46D5-E2C4-9425-7A23-4116427A8B41}"/>
              </a:ext>
            </a:extLst>
          </p:cNvPr>
          <p:cNvSpPr txBox="1"/>
          <p:nvPr/>
        </p:nvSpPr>
        <p:spPr>
          <a:xfrm>
            <a:off x="1944564" y="4291480"/>
            <a:ext cx="4426819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FLIC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2" name="Google Shape;490;p63">
            <a:extLst>
              <a:ext uri="{FF2B5EF4-FFF2-40B4-BE49-F238E27FC236}">
                <a16:creationId xmlns:a16="http://schemas.microsoft.com/office/drawing/2014/main" id="{AF09A227-7BFB-05C8-DCC1-33F93F4937B1}"/>
              </a:ext>
            </a:extLst>
          </p:cNvPr>
          <p:cNvSpPr txBox="1"/>
          <p:nvPr/>
        </p:nvSpPr>
        <p:spPr>
          <a:xfrm>
            <a:off x="2488138" y="3365888"/>
            <a:ext cx="2073950" cy="117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CEDVAL case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Monterrey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endParaRPr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Terrassa case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3" name="Google Shape;493;p63">
            <a:extLst>
              <a:ext uri="{FF2B5EF4-FFF2-40B4-BE49-F238E27FC236}">
                <a16:creationId xmlns:a16="http://schemas.microsoft.com/office/drawing/2014/main" id="{D498A597-4733-5E50-CF71-DF35FFC0E0AB}"/>
              </a:ext>
            </a:extLst>
          </p:cNvPr>
          <p:cNvSpPr txBox="1"/>
          <p:nvPr/>
        </p:nvSpPr>
        <p:spPr>
          <a:xfrm>
            <a:off x="3201366" y="547285"/>
            <a:ext cx="4426819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Expansion</a:t>
            </a: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</a:t>
            </a: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Digital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Twins</a:t>
            </a:r>
            <a:endParaRPr kumimoji="0" lang="es-MX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E4D94B-5FFA-34D9-5843-77AA64B574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419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4278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E793C-485B-0966-DAEB-5BEA91C51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EDEAC-1619-E486-AA1E-D5EF70C81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0B04795-0DE7-4ECC-8A35-5B225D21AD06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3" name="Google Shape;518;p65">
            <a:extLst>
              <a:ext uri="{FF2B5EF4-FFF2-40B4-BE49-F238E27FC236}">
                <a16:creationId xmlns:a16="http://schemas.microsoft.com/office/drawing/2014/main" id="{8BC3C189-F165-ADAE-0002-62C65112C0D8}"/>
              </a:ext>
            </a:extLst>
          </p:cNvPr>
          <p:cNvSpPr txBox="1"/>
          <p:nvPr/>
        </p:nvSpPr>
        <p:spPr>
          <a:xfrm>
            <a:off x="484296" y="289021"/>
            <a:ext cx="6431195" cy="57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City4CFD-ANSA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" name="Google Shape;519;p65">
            <a:extLst>
              <a:ext uri="{FF2B5EF4-FFF2-40B4-BE49-F238E27FC236}">
                <a16:creationId xmlns:a16="http://schemas.microsoft.com/office/drawing/2014/main" id="{E74D982A-B630-0BEE-6FE3-44E0812C951D}"/>
              </a:ext>
            </a:extLst>
          </p:cNvPr>
          <p:cNvCxnSpPr/>
          <p:nvPr/>
        </p:nvCxnSpPr>
        <p:spPr>
          <a:xfrm>
            <a:off x="554038" y="577621"/>
            <a:ext cx="24027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TextBox 29">
            <a:extLst>
              <a:ext uri="{FF2B5EF4-FFF2-40B4-BE49-F238E27FC236}">
                <a16:creationId xmlns:a16="http://schemas.microsoft.com/office/drawing/2014/main" id="{8D967ABB-C8FC-338D-E5BE-6051407FC7DD}"/>
              </a:ext>
            </a:extLst>
          </p:cNvPr>
          <p:cNvSpPr txBox="1"/>
          <p:nvPr/>
        </p:nvSpPr>
        <p:spPr>
          <a:xfrm>
            <a:off x="481785" y="711384"/>
            <a:ext cx="4552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From LiDAR databases to CFD-ready meshes</a:t>
            </a: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51778140-AA0F-E320-5ED0-30CEF1E57E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69128" y="239520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16" name="Straight Arrow Connector 45">
            <a:extLst>
              <a:ext uri="{FF2B5EF4-FFF2-40B4-BE49-F238E27FC236}">
                <a16:creationId xmlns:a16="http://schemas.microsoft.com/office/drawing/2014/main" id="{AD5CAC24-B817-AFDC-559F-C859AE59347D}"/>
              </a:ext>
            </a:extLst>
          </p:cNvPr>
          <p:cNvCxnSpPr>
            <a:cxnSpLocks/>
          </p:cNvCxnSpPr>
          <p:nvPr/>
        </p:nvCxnSpPr>
        <p:spPr>
          <a:xfrm>
            <a:off x="3781193" y="2721974"/>
            <a:ext cx="163715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47">
            <a:extLst>
              <a:ext uri="{FF2B5EF4-FFF2-40B4-BE49-F238E27FC236}">
                <a16:creationId xmlns:a16="http://schemas.microsoft.com/office/drawing/2014/main" id="{5F86DC57-D928-C99A-E0CB-2D1E19F22FC3}"/>
              </a:ext>
            </a:extLst>
          </p:cNvPr>
          <p:cNvSpPr txBox="1"/>
          <p:nvPr/>
        </p:nvSpPr>
        <p:spPr>
          <a:xfrm>
            <a:off x="733730" y="3586620"/>
            <a:ext cx="2540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baumans"/>
                <a:cs typeface="Times New Roman" panose="02020603050405020304" pitchFamily="18" charset="0"/>
              </a:rPr>
              <a:t>Generic LiDAR survey points</a:t>
            </a:r>
          </a:p>
        </p:txBody>
      </p:sp>
      <p:sp>
        <p:nvSpPr>
          <p:cNvPr id="20" name="TextBox 48">
            <a:extLst>
              <a:ext uri="{FF2B5EF4-FFF2-40B4-BE49-F238E27FC236}">
                <a16:creationId xmlns:a16="http://schemas.microsoft.com/office/drawing/2014/main" id="{14B849C3-EBD3-EA3A-69D8-B6D268131405}"/>
              </a:ext>
            </a:extLst>
          </p:cNvPr>
          <p:cNvSpPr txBox="1"/>
          <p:nvPr/>
        </p:nvSpPr>
        <p:spPr>
          <a:xfrm>
            <a:off x="5713439" y="3586620"/>
            <a:ext cx="29634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>
                <a:latin typeface="baumans"/>
              </a:rPr>
              <a:t>SOD2D ready mesh (flat terrain)</a:t>
            </a:r>
          </a:p>
        </p:txBody>
      </p:sp>
      <p:sp>
        <p:nvSpPr>
          <p:cNvPr id="22" name="TextBox 49">
            <a:extLst>
              <a:ext uri="{FF2B5EF4-FFF2-40B4-BE49-F238E27FC236}">
                <a16:creationId xmlns:a16="http://schemas.microsoft.com/office/drawing/2014/main" id="{395DAF13-FFFC-2592-2D2E-419A46A3B7FB}"/>
              </a:ext>
            </a:extLst>
          </p:cNvPr>
          <p:cNvSpPr txBox="1"/>
          <p:nvPr/>
        </p:nvSpPr>
        <p:spPr>
          <a:xfrm>
            <a:off x="3754767" y="2847956"/>
            <a:ext cx="1642328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umans"/>
              </a:rPr>
              <a:t>Python scripts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umans"/>
              </a:rPr>
              <a:t>City4CFD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umans"/>
              </a:rPr>
              <a:t>ANSA scripts</a:t>
            </a:r>
          </a:p>
        </p:txBody>
      </p:sp>
      <p:sp>
        <p:nvSpPr>
          <p:cNvPr id="4" name="Google Shape;520;p65">
            <a:extLst>
              <a:ext uri="{FF2B5EF4-FFF2-40B4-BE49-F238E27FC236}">
                <a16:creationId xmlns:a16="http://schemas.microsoft.com/office/drawing/2014/main" id="{27C53A74-DE28-5323-37B3-F921FA0883BE}"/>
              </a:ext>
            </a:extLst>
          </p:cNvPr>
          <p:cNvSpPr txBox="1"/>
          <p:nvPr/>
        </p:nvSpPr>
        <p:spPr>
          <a:xfrm>
            <a:off x="4790115" y="117662"/>
            <a:ext cx="4132870" cy="207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Exploration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  </a:t>
            </a:r>
            <a:r>
              <a:rPr lang="es-419" sz="900" b="1" err="1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Simulation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Future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Work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" name="Google Shape;523;p65">
            <a:extLst>
              <a:ext uri="{FF2B5EF4-FFF2-40B4-BE49-F238E27FC236}">
                <a16:creationId xmlns:a16="http://schemas.microsoft.com/office/drawing/2014/main" id="{34697289-B437-BF83-1A70-42EFA2C80204}"/>
              </a:ext>
            </a:extLst>
          </p:cNvPr>
          <p:cNvCxnSpPr/>
          <p:nvPr/>
        </p:nvCxnSpPr>
        <p:spPr>
          <a:xfrm>
            <a:off x="5713439" y="325381"/>
            <a:ext cx="24756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00C534FE-FEEA-2C74-70A4-6238CEDA9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45" y="1949020"/>
            <a:ext cx="3050779" cy="1515112"/>
          </a:xfrm>
          <a:prstGeom prst="rect">
            <a:avLst/>
          </a:prstGeom>
        </p:spPr>
      </p:pic>
      <p:pic>
        <p:nvPicPr>
          <p:cNvPr id="11" name="Imagen 10" descr="Imagen que contiene circuito, computadora&#10;&#10;El contenido generado por IA puede ser incorrecto.">
            <a:extLst>
              <a:ext uri="{FF2B5EF4-FFF2-40B4-BE49-F238E27FC236}">
                <a16:creationId xmlns:a16="http://schemas.microsoft.com/office/drawing/2014/main" id="{6AD250B3-0FA9-09BD-012A-7A520A386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390" y="2002907"/>
            <a:ext cx="2966357" cy="151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86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20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4932-0187-1EC7-42B6-ABB165C5C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152C29-F53B-07A4-78C9-F4DA05128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0B04795-0DE7-4ECC-8A35-5B225D21AD06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4" name="Google Shape;520;p65">
            <a:extLst>
              <a:ext uri="{FF2B5EF4-FFF2-40B4-BE49-F238E27FC236}">
                <a16:creationId xmlns:a16="http://schemas.microsoft.com/office/drawing/2014/main" id="{2606DB9E-FA50-3A33-624D-E87B3A1654A1}"/>
              </a:ext>
            </a:extLst>
          </p:cNvPr>
          <p:cNvSpPr txBox="1"/>
          <p:nvPr/>
        </p:nvSpPr>
        <p:spPr>
          <a:xfrm>
            <a:off x="4790115" y="117662"/>
            <a:ext cx="4132870" cy="207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Exploration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  </a:t>
            </a:r>
            <a:r>
              <a:rPr lang="es-419" sz="900" b="1" err="1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Simulation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Future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Work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" name="Google Shape;523;p65">
            <a:extLst>
              <a:ext uri="{FF2B5EF4-FFF2-40B4-BE49-F238E27FC236}">
                <a16:creationId xmlns:a16="http://schemas.microsoft.com/office/drawing/2014/main" id="{0F712329-9163-7D98-E1CE-CAC8BB1D3EAC}"/>
              </a:ext>
            </a:extLst>
          </p:cNvPr>
          <p:cNvCxnSpPr/>
          <p:nvPr/>
        </p:nvCxnSpPr>
        <p:spPr>
          <a:xfrm>
            <a:off x="5713439" y="325381"/>
            <a:ext cx="24756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Paralelogramo 11">
            <a:extLst>
              <a:ext uri="{FF2B5EF4-FFF2-40B4-BE49-F238E27FC236}">
                <a16:creationId xmlns:a16="http://schemas.microsoft.com/office/drawing/2014/main" id="{C558039F-DBEA-200F-38C4-9E7503E625E8}"/>
              </a:ext>
            </a:extLst>
          </p:cNvPr>
          <p:cNvSpPr/>
          <p:nvPr/>
        </p:nvSpPr>
        <p:spPr>
          <a:xfrm>
            <a:off x="1943832" y="1594472"/>
            <a:ext cx="976312" cy="577052"/>
          </a:xfrm>
          <a:prstGeom prst="parallelogram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err="1">
                <a:ea typeface="Calibri"/>
                <a:cs typeface="Calibri"/>
              </a:rPr>
              <a:t>LiDAR</a:t>
            </a:r>
            <a:endParaRPr lang="es-ES" sz="1200">
              <a:ea typeface="Calibri"/>
              <a:cs typeface="Calibri"/>
            </a:endParaRPr>
          </a:p>
          <a:p>
            <a:pPr algn="ctr"/>
            <a:r>
              <a:rPr lang="es-ES" sz="1200" err="1">
                <a:ea typeface="Calibri"/>
                <a:cs typeface="Calibri"/>
              </a:rPr>
              <a:t>Dataset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8608704-30EE-D502-9635-FBC9EDEFF6EB}"/>
              </a:ext>
            </a:extLst>
          </p:cNvPr>
          <p:cNvCxnSpPr/>
          <p:nvPr/>
        </p:nvCxnSpPr>
        <p:spPr>
          <a:xfrm>
            <a:off x="3067050" y="1933200"/>
            <a:ext cx="334963" cy="1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B20EC57-8D59-D039-4BDE-84740386BCD1}"/>
              </a:ext>
            </a:extLst>
          </p:cNvPr>
          <p:cNvSpPr/>
          <p:nvPr/>
        </p:nvSpPr>
        <p:spPr>
          <a:xfrm>
            <a:off x="3539456" y="1469258"/>
            <a:ext cx="827088" cy="1012824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>
                <a:ea typeface="Calibri"/>
                <a:cs typeface="Calibri"/>
              </a:rPr>
              <a:t>Clip </a:t>
            </a:r>
            <a:r>
              <a:rPr lang="es-ES" sz="1200" err="1">
                <a:ea typeface="Calibri"/>
                <a:cs typeface="Calibri"/>
              </a:rPr>
              <a:t>zone</a:t>
            </a:r>
            <a:endParaRPr lang="es-ES" sz="1200">
              <a:ea typeface="Calibri"/>
              <a:cs typeface="Calibri"/>
            </a:endParaRPr>
          </a:p>
          <a:p>
            <a:pPr algn="ctr"/>
            <a:r>
              <a:rPr lang="es-ES" sz="1200">
                <a:ea typeface="Calibri"/>
                <a:cs typeface="Calibri"/>
              </a:rPr>
              <a:t>&amp;</a:t>
            </a:r>
          </a:p>
          <a:p>
            <a:pPr algn="ctr"/>
            <a:r>
              <a:rPr lang="es-ES" sz="1200" err="1">
                <a:ea typeface="Calibri"/>
                <a:cs typeface="Calibri"/>
              </a:rPr>
              <a:t>Extract</a:t>
            </a:r>
            <a:r>
              <a:rPr lang="es-ES" sz="1200">
                <a:ea typeface="Calibri"/>
                <a:cs typeface="Calibri"/>
              </a:rPr>
              <a:t> </a:t>
            </a:r>
            <a:r>
              <a:rPr lang="es-ES" sz="1200" err="1">
                <a:ea typeface="Calibri"/>
                <a:cs typeface="Calibri"/>
              </a:rPr>
              <a:t>polgons</a:t>
            </a:r>
            <a:r>
              <a:rPr lang="es-ES" sz="1200">
                <a:ea typeface="Calibri"/>
                <a:cs typeface="Calibri"/>
              </a:rPr>
              <a:t> </a:t>
            </a:r>
            <a:r>
              <a:rPr lang="es-ES" sz="1200" err="1">
                <a:ea typeface="Calibri"/>
                <a:cs typeface="Calibri"/>
              </a:rPr>
              <a:t>from</a:t>
            </a:r>
            <a:r>
              <a:rPr lang="es-ES" sz="1200">
                <a:ea typeface="Calibri"/>
                <a:cs typeface="Calibri"/>
              </a:rPr>
              <a:t> OSM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20A5F71-B587-17FF-491D-945EC3E92892}"/>
              </a:ext>
            </a:extLst>
          </p:cNvPr>
          <p:cNvCxnSpPr>
            <a:cxnSpLocks/>
          </p:cNvCxnSpPr>
          <p:nvPr/>
        </p:nvCxnSpPr>
        <p:spPr>
          <a:xfrm>
            <a:off x="4488774" y="1931612"/>
            <a:ext cx="334963" cy="1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085AF77-49D9-31FE-02E0-30E3CA1060C0}"/>
              </a:ext>
            </a:extLst>
          </p:cNvPr>
          <p:cNvSpPr/>
          <p:nvPr/>
        </p:nvSpPr>
        <p:spPr>
          <a:xfrm>
            <a:off x="5009835" y="1687124"/>
            <a:ext cx="827088" cy="503135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>
                <a:ea typeface="Calibri"/>
                <a:cs typeface="Calibri"/>
              </a:rPr>
              <a:t>City4CFD</a:t>
            </a:r>
            <a:endParaRPr lang="es-ES" sz="1200"/>
          </a:p>
        </p:txBody>
      </p:sp>
      <p:sp>
        <p:nvSpPr>
          <p:cNvPr id="19" name="Diagrama de flujo: documento 18">
            <a:extLst>
              <a:ext uri="{FF2B5EF4-FFF2-40B4-BE49-F238E27FC236}">
                <a16:creationId xmlns:a16="http://schemas.microsoft.com/office/drawing/2014/main" id="{7DBBE77E-1D3F-EECC-9A62-C1AD5C674ADB}"/>
              </a:ext>
            </a:extLst>
          </p:cNvPr>
          <p:cNvSpPr/>
          <p:nvPr/>
        </p:nvSpPr>
        <p:spPr>
          <a:xfrm>
            <a:off x="6385220" y="1627011"/>
            <a:ext cx="671941" cy="721708"/>
          </a:xfrm>
          <a:prstGeom prst="flowChartDocumen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>
                <a:ea typeface="Calibri"/>
                <a:cs typeface="Calibri"/>
              </a:rPr>
              <a:t>City STL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8B4578B-36C6-7F2A-52C7-9EEB06A6ADB1}"/>
              </a:ext>
            </a:extLst>
          </p:cNvPr>
          <p:cNvCxnSpPr>
            <a:cxnSpLocks/>
          </p:cNvCxnSpPr>
          <p:nvPr/>
        </p:nvCxnSpPr>
        <p:spPr>
          <a:xfrm>
            <a:off x="5943590" y="1937810"/>
            <a:ext cx="334963" cy="1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C2CF5EE-C9A3-1FFF-BB93-4E8EAD1820FB}"/>
              </a:ext>
            </a:extLst>
          </p:cNvPr>
          <p:cNvSpPr/>
          <p:nvPr/>
        </p:nvSpPr>
        <p:spPr>
          <a:xfrm>
            <a:off x="2440627" y="3005933"/>
            <a:ext cx="827088" cy="906453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err="1">
                <a:ea typeface="Calibri"/>
                <a:cs typeface="Calibri"/>
              </a:rPr>
              <a:t>Domain</a:t>
            </a:r>
            <a:r>
              <a:rPr lang="es-ES" sz="1200">
                <a:ea typeface="Calibri"/>
                <a:cs typeface="Calibri"/>
              </a:rPr>
              <a:t> </a:t>
            </a:r>
          </a:p>
          <a:p>
            <a:pPr algn="ctr"/>
            <a:r>
              <a:rPr lang="es-ES" sz="1200">
                <a:ea typeface="Calibri"/>
                <a:cs typeface="Calibri"/>
              </a:rPr>
              <a:t>&amp;</a:t>
            </a:r>
          </a:p>
          <a:p>
            <a:pPr algn="ctr"/>
            <a:r>
              <a:rPr lang="es-ES" sz="1200" err="1">
                <a:ea typeface="Calibri"/>
                <a:cs typeface="Calibri"/>
              </a:rPr>
              <a:t>Check</a:t>
            </a:r>
            <a:r>
              <a:rPr lang="es-ES" sz="1200">
                <a:ea typeface="Calibri"/>
                <a:cs typeface="Calibri"/>
              </a:rPr>
              <a:t> </a:t>
            </a:r>
            <a:r>
              <a:rPr lang="es-ES" sz="1200" err="1">
                <a:ea typeface="Calibri"/>
                <a:cs typeface="Calibri"/>
              </a:rPr>
              <a:t>geometry</a:t>
            </a:r>
            <a:endParaRPr lang="es-ES" sz="1200">
              <a:ea typeface="Calibri"/>
              <a:cs typeface="Calibri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CBC5E0E7-1692-6FAC-04BF-70CE03AAC62B}"/>
              </a:ext>
            </a:extLst>
          </p:cNvPr>
          <p:cNvCxnSpPr>
            <a:cxnSpLocks/>
          </p:cNvCxnSpPr>
          <p:nvPr/>
        </p:nvCxnSpPr>
        <p:spPr>
          <a:xfrm>
            <a:off x="2024748" y="3459160"/>
            <a:ext cx="334963" cy="1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iagrama de flujo: entrada manual 28">
            <a:extLst>
              <a:ext uri="{FF2B5EF4-FFF2-40B4-BE49-F238E27FC236}">
                <a16:creationId xmlns:a16="http://schemas.microsoft.com/office/drawing/2014/main" id="{47C79EF4-37AA-FF43-54B6-673EEAF5FA4C}"/>
              </a:ext>
            </a:extLst>
          </p:cNvPr>
          <p:cNvSpPr/>
          <p:nvPr/>
        </p:nvSpPr>
        <p:spPr>
          <a:xfrm>
            <a:off x="3829167" y="2998740"/>
            <a:ext cx="827088" cy="837218"/>
          </a:xfrm>
          <a:prstGeom prst="flowChartManualInpu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err="1">
                <a:ea typeface="Calibri"/>
                <a:cs typeface="Calibri"/>
              </a:rPr>
              <a:t>Manually</a:t>
            </a:r>
            <a:r>
              <a:rPr lang="es-ES" sz="1200">
                <a:ea typeface="Calibri"/>
                <a:cs typeface="Calibri"/>
              </a:rPr>
              <a:t> set </a:t>
            </a:r>
            <a:r>
              <a:rPr lang="es-ES" sz="1200" err="1">
                <a:ea typeface="Calibri"/>
                <a:cs typeface="Calibri"/>
              </a:rPr>
              <a:t>batch</a:t>
            </a:r>
            <a:r>
              <a:rPr lang="es-ES" sz="1200">
                <a:ea typeface="Calibri"/>
                <a:cs typeface="Calibri"/>
              </a:rPr>
              <a:t> </a:t>
            </a:r>
            <a:r>
              <a:rPr lang="es-ES" sz="1200" err="1">
                <a:ea typeface="Calibri"/>
                <a:cs typeface="Calibri"/>
              </a:rPr>
              <a:t>mesh</a:t>
            </a:r>
            <a:endParaRPr lang="es-ES" sz="1200" err="1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E10A1676-F30E-5F6E-9AEA-A843726974C8}"/>
              </a:ext>
            </a:extLst>
          </p:cNvPr>
          <p:cNvCxnSpPr>
            <a:cxnSpLocks/>
          </p:cNvCxnSpPr>
          <p:nvPr/>
        </p:nvCxnSpPr>
        <p:spPr>
          <a:xfrm>
            <a:off x="4776671" y="3455983"/>
            <a:ext cx="334963" cy="1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A49755F-1ACE-587D-F869-A98659FEB4DD}"/>
              </a:ext>
            </a:extLst>
          </p:cNvPr>
          <p:cNvSpPr/>
          <p:nvPr/>
        </p:nvSpPr>
        <p:spPr>
          <a:xfrm>
            <a:off x="5217707" y="3037374"/>
            <a:ext cx="1283494" cy="837218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200" err="1">
                <a:ea typeface="Calibri"/>
                <a:cs typeface="Calibri"/>
              </a:rPr>
              <a:t>Build</a:t>
            </a:r>
            <a:r>
              <a:rPr lang="es-ES" sz="1200">
                <a:ea typeface="Calibri"/>
                <a:cs typeface="Calibri"/>
              </a:rPr>
              <a:t> new </a:t>
            </a:r>
            <a:r>
              <a:rPr lang="es-ES" sz="1200" err="1">
                <a:ea typeface="Calibri"/>
                <a:cs typeface="Calibri"/>
              </a:rPr>
              <a:t>inlet</a:t>
            </a:r>
          </a:p>
          <a:p>
            <a:pPr algn="ctr"/>
            <a:r>
              <a:rPr lang="es-ES" sz="1200" err="1">
                <a:ea typeface="Calibri"/>
                <a:cs typeface="Calibri"/>
              </a:rPr>
              <a:t>Create</a:t>
            </a:r>
            <a:r>
              <a:rPr lang="es-ES" sz="1200">
                <a:ea typeface="Calibri"/>
                <a:cs typeface="Calibri"/>
              </a:rPr>
              <a:t> precursor</a:t>
            </a:r>
          </a:p>
          <a:p>
            <a:pPr algn="ctr"/>
            <a:r>
              <a:rPr lang="es-ES" sz="1200">
                <a:ea typeface="Calibri"/>
                <a:cs typeface="Calibri"/>
              </a:rPr>
              <a:t>Split </a:t>
            </a:r>
            <a:r>
              <a:rPr lang="es-ES" sz="1200" err="1">
                <a:ea typeface="Calibri"/>
                <a:cs typeface="Calibri"/>
              </a:rPr>
              <a:t>to</a:t>
            </a:r>
            <a:r>
              <a:rPr lang="es-ES" sz="1200">
                <a:ea typeface="Calibri"/>
                <a:cs typeface="Calibri"/>
              </a:rPr>
              <a:t> Hexa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C8B02A7-A6D2-3A4F-2BF3-23985BB0DDE0}"/>
              </a:ext>
            </a:extLst>
          </p:cNvPr>
          <p:cNvCxnSpPr>
            <a:cxnSpLocks/>
          </p:cNvCxnSpPr>
          <p:nvPr/>
        </p:nvCxnSpPr>
        <p:spPr>
          <a:xfrm>
            <a:off x="6616276" y="3455983"/>
            <a:ext cx="334963" cy="1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iagrama de flujo: documento 32">
            <a:extLst>
              <a:ext uri="{FF2B5EF4-FFF2-40B4-BE49-F238E27FC236}">
                <a16:creationId xmlns:a16="http://schemas.microsoft.com/office/drawing/2014/main" id="{BF260C4D-8F92-DC2E-F2FC-B72F6D06564F}"/>
              </a:ext>
            </a:extLst>
          </p:cNvPr>
          <p:cNvSpPr/>
          <p:nvPr/>
        </p:nvSpPr>
        <p:spPr>
          <a:xfrm>
            <a:off x="7066314" y="3136767"/>
            <a:ext cx="768966" cy="787400"/>
          </a:xfrm>
          <a:prstGeom prst="flowChartDocumen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200">
                <a:ea typeface="Calibri"/>
                <a:cs typeface="Calibri"/>
              </a:rPr>
              <a:t>CGNS </a:t>
            </a:r>
            <a:r>
              <a:rPr lang="es-ES" sz="1200" err="1">
                <a:ea typeface="Calibri"/>
                <a:cs typeface="Calibri"/>
              </a:rPr>
              <a:t>meshfile</a:t>
            </a:r>
          </a:p>
        </p:txBody>
      </p:sp>
      <p:sp>
        <p:nvSpPr>
          <p:cNvPr id="34" name="Cerrar llave 33">
            <a:extLst>
              <a:ext uri="{FF2B5EF4-FFF2-40B4-BE49-F238E27FC236}">
                <a16:creationId xmlns:a16="http://schemas.microsoft.com/office/drawing/2014/main" id="{8C5E9497-20EB-4327-B259-81A5AB08CECC}"/>
              </a:ext>
            </a:extLst>
          </p:cNvPr>
          <p:cNvSpPr/>
          <p:nvPr/>
        </p:nvSpPr>
        <p:spPr>
          <a:xfrm rot="16200000">
            <a:off x="4722558" y="185831"/>
            <a:ext cx="168200" cy="193704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Cerrar llave 34">
            <a:extLst>
              <a:ext uri="{FF2B5EF4-FFF2-40B4-BE49-F238E27FC236}">
                <a16:creationId xmlns:a16="http://schemas.microsoft.com/office/drawing/2014/main" id="{EB26BB64-DF0D-B051-AACD-451488AC7602}"/>
              </a:ext>
            </a:extLst>
          </p:cNvPr>
          <p:cNvSpPr/>
          <p:nvPr/>
        </p:nvSpPr>
        <p:spPr>
          <a:xfrm rot="5400000">
            <a:off x="4317395" y="3341662"/>
            <a:ext cx="137985" cy="174783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67089E2-0CEF-D109-7571-3433DC9DF7C4}"/>
              </a:ext>
            </a:extLst>
          </p:cNvPr>
          <p:cNvSpPr txBox="1"/>
          <p:nvPr/>
        </p:nvSpPr>
        <p:spPr>
          <a:xfrm>
            <a:off x="4483365" y="799559"/>
            <a:ext cx="9207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>
                <a:latin typeface="baumans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F3409AC-5639-740E-DF2A-DFDC13042794}"/>
              </a:ext>
            </a:extLst>
          </p:cNvPr>
          <p:cNvSpPr txBox="1"/>
          <p:nvPr/>
        </p:nvSpPr>
        <p:spPr>
          <a:xfrm>
            <a:off x="3805125" y="4287426"/>
            <a:ext cx="120471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>
                <a:latin typeface="baumans"/>
              </a:rPr>
              <a:t>ANSA Scripts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D9A66F-7A6A-B085-490E-B02B449D25C5}"/>
              </a:ext>
            </a:extLst>
          </p:cNvPr>
          <p:cNvSpPr txBox="1"/>
          <p:nvPr/>
        </p:nvSpPr>
        <p:spPr>
          <a:xfrm>
            <a:off x="2189416" y="1286695"/>
            <a:ext cx="681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76AF7-AAB3-FE3B-E9A0-524001FC5C4D}"/>
              </a:ext>
            </a:extLst>
          </p:cNvPr>
          <p:cNvSpPr txBox="1"/>
          <p:nvPr/>
        </p:nvSpPr>
        <p:spPr>
          <a:xfrm>
            <a:off x="6385220" y="1300891"/>
            <a:ext cx="767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0BBB75-BC84-4468-B0D9-3A0E32604788}"/>
              </a:ext>
            </a:extLst>
          </p:cNvPr>
          <p:cNvSpPr txBox="1"/>
          <p:nvPr/>
        </p:nvSpPr>
        <p:spPr>
          <a:xfrm>
            <a:off x="7110095" y="2844851"/>
            <a:ext cx="681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11" name="Paralelogramo 11">
            <a:extLst>
              <a:ext uri="{FF2B5EF4-FFF2-40B4-BE49-F238E27FC236}">
                <a16:creationId xmlns:a16="http://schemas.microsoft.com/office/drawing/2014/main" id="{6ED1BCBA-E366-F793-DF0A-BE550EFEE830}"/>
              </a:ext>
            </a:extLst>
          </p:cNvPr>
          <p:cNvSpPr/>
          <p:nvPr/>
        </p:nvSpPr>
        <p:spPr>
          <a:xfrm>
            <a:off x="1061709" y="3240085"/>
            <a:ext cx="882123" cy="438150"/>
          </a:xfrm>
          <a:prstGeom prst="parallelogram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>
                <a:ea typeface="Calibri"/>
                <a:cs typeface="Calibri"/>
              </a:rPr>
              <a:t>STL 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1A13A7-F980-56E9-27A3-93510E32F3FF}"/>
              </a:ext>
            </a:extLst>
          </p:cNvPr>
          <p:cNvSpPr txBox="1"/>
          <p:nvPr/>
        </p:nvSpPr>
        <p:spPr>
          <a:xfrm>
            <a:off x="1302886" y="2932308"/>
            <a:ext cx="681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cxnSp>
        <p:nvCxnSpPr>
          <p:cNvPr id="18" name="Conector recto de flecha 27">
            <a:extLst>
              <a:ext uri="{FF2B5EF4-FFF2-40B4-BE49-F238E27FC236}">
                <a16:creationId xmlns:a16="http://schemas.microsoft.com/office/drawing/2014/main" id="{C27C159A-4291-7654-DED9-4156F530C22D}"/>
              </a:ext>
            </a:extLst>
          </p:cNvPr>
          <p:cNvCxnSpPr>
            <a:cxnSpLocks/>
          </p:cNvCxnSpPr>
          <p:nvPr/>
        </p:nvCxnSpPr>
        <p:spPr>
          <a:xfrm>
            <a:off x="3373788" y="3457571"/>
            <a:ext cx="334963" cy="1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Google Shape;518;p65">
            <a:extLst>
              <a:ext uri="{FF2B5EF4-FFF2-40B4-BE49-F238E27FC236}">
                <a16:creationId xmlns:a16="http://schemas.microsoft.com/office/drawing/2014/main" id="{6AA3AAB4-040E-904D-1A04-CCF982A8F8E4}"/>
              </a:ext>
            </a:extLst>
          </p:cNvPr>
          <p:cNvSpPr txBox="1"/>
          <p:nvPr/>
        </p:nvSpPr>
        <p:spPr>
          <a:xfrm>
            <a:off x="484296" y="289021"/>
            <a:ext cx="6431195" cy="57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City4CFD-ANSA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" name="Google Shape;519;p65">
            <a:extLst>
              <a:ext uri="{FF2B5EF4-FFF2-40B4-BE49-F238E27FC236}">
                <a16:creationId xmlns:a16="http://schemas.microsoft.com/office/drawing/2014/main" id="{FB38E7AC-FBF0-7499-8C60-9B39D734E5B3}"/>
              </a:ext>
            </a:extLst>
          </p:cNvPr>
          <p:cNvCxnSpPr/>
          <p:nvPr/>
        </p:nvCxnSpPr>
        <p:spPr>
          <a:xfrm>
            <a:off x="554038" y="577621"/>
            <a:ext cx="24027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5308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7" grpId="0" animBg="1"/>
      <p:bldP spid="19" grpId="0" animBg="1"/>
      <p:bldP spid="27" grpId="0" animBg="1"/>
      <p:bldP spid="29" grpId="0" animBg="1"/>
      <p:bldP spid="31" grpId="0" animBg="1"/>
      <p:bldP spid="33" grpId="0" animBg="1"/>
      <p:bldP spid="34" grpId="0" animBg="1"/>
      <p:bldP spid="35" grpId="0" animBg="1"/>
      <p:bldP spid="36" grpId="0"/>
      <p:bldP spid="37" grpId="0"/>
      <p:bldP spid="7" grpId="0"/>
      <p:bldP spid="8" grpId="0"/>
      <p:bldP spid="10" grpId="0"/>
      <p:bldP spid="11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8E9E3-42EC-8FA9-3086-331FE9E76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DE5A7-E0BB-F095-F4A1-2D414F7A3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0B04795-0DE7-4ECC-8A35-5B225D21AD06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4" name="Google Shape;518;p65">
            <a:extLst>
              <a:ext uri="{FF2B5EF4-FFF2-40B4-BE49-F238E27FC236}">
                <a16:creationId xmlns:a16="http://schemas.microsoft.com/office/drawing/2014/main" id="{C5F3C866-012E-605B-D55D-8C3BB2477651}"/>
              </a:ext>
            </a:extLst>
          </p:cNvPr>
          <p:cNvSpPr txBox="1"/>
          <p:nvPr/>
        </p:nvSpPr>
        <p:spPr>
          <a:xfrm>
            <a:off x="484296" y="289021"/>
            <a:ext cx="6431195" cy="57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CFD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</a:t>
            </a:r>
            <a:r>
              <a:rPr lang="es-MX" sz="1800" b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characteristics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" name="Google Shape;519;p65">
            <a:extLst>
              <a:ext uri="{FF2B5EF4-FFF2-40B4-BE49-F238E27FC236}">
                <a16:creationId xmlns:a16="http://schemas.microsoft.com/office/drawing/2014/main" id="{251B5009-892A-1ECE-2BB1-F5A3EDBB9E9C}"/>
              </a:ext>
            </a:extLst>
          </p:cNvPr>
          <p:cNvCxnSpPr/>
          <p:nvPr/>
        </p:nvCxnSpPr>
        <p:spPr>
          <a:xfrm>
            <a:off x="554038" y="577621"/>
            <a:ext cx="24027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" name="TextBox 13">
            <a:extLst>
              <a:ext uri="{FF2B5EF4-FFF2-40B4-BE49-F238E27FC236}">
                <a16:creationId xmlns:a16="http://schemas.microsoft.com/office/drawing/2014/main" id="{420F35F9-36EA-ADDE-9D41-D46AE4F92837}"/>
              </a:ext>
            </a:extLst>
          </p:cNvPr>
          <p:cNvSpPr txBox="1"/>
          <p:nvPr/>
        </p:nvSpPr>
        <p:spPr>
          <a:xfrm>
            <a:off x="554038" y="1274763"/>
            <a:ext cx="3015955" cy="21544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+mn-lt"/>
              </a:rPr>
              <a:t>SOD2D quality criteria.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+mn-lt"/>
              </a:rPr>
              <a:t>Parametric domain and size boxes based on building height.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+mn-lt"/>
              </a:rPr>
              <a:t>Flat terrain.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+mn-lt"/>
              </a:rPr>
              <a:t>Minutes ready mesh.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17" name="Picture 14" descr="A low polygons in a room&#10;&#10;AI-generated content may be incorrect.">
            <a:extLst>
              <a:ext uri="{FF2B5EF4-FFF2-40B4-BE49-F238E27FC236}">
                <a16:creationId xmlns:a16="http://schemas.microsoft.com/office/drawing/2014/main" id="{A3FA5D16-C8C4-DC23-9066-D4E6CDEF7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626" y="1069454"/>
            <a:ext cx="4943336" cy="2571533"/>
          </a:xfrm>
          <a:prstGeom prst="rect">
            <a:avLst/>
          </a:prstGeom>
        </p:spPr>
      </p:pic>
      <p:sp>
        <p:nvSpPr>
          <p:cNvPr id="21" name="TextBox 15">
            <a:extLst>
              <a:ext uri="{FF2B5EF4-FFF2-40B4-BE49-F238E27FC236}">
                <a16:creationId xmlns:a16="http://schemas.microsoft.com/office/drawing/2014/main" id="{CD00285D-F8D3-9CE3-4DCD-1BAEFBFCEFCD}"/>
              </a:ext>
            </a:extLst>
          </p:cNvPr>
          <p:cNvSpPr txBox="1"/>
          <p:nvPr/>
        </p:nvSpPr>
        <p:spPr>
          <a:xfrm>
            <a:off x="5041487" y="3640987"/>
            <a:ext cx="2153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baumans"/>
              </a:rPr>
              <a:t>Monterrey Volume Mesh</a:t>
            </a:r>
          </a:p>
        </p:txBody>
      </p:sp>
      <p:sp>
        <p:nvSpPr>
          <p:cNvPr id="3" name="Google Shape;520;p65">
            <a:extLst>
              <a:ext uri="{FF2B5EF4-FFF2-40B4-BE49-F238E27FC236}">
                <a16:creationId xmlns:a16="http://schemas.microsoft.com/office/drawing/2014/main" id="{CD79567D-395C-E060-5F5B-452FDC2E7A97}"/>
              </a:ext>
            </a:extLst>
          </p:cNvPr>
          <p:cNvSpPr txBox="1"/>
          <p:nvPr/>
        </p:nvSpPr>
        <p:spPr>
          <a:xfrm>
            <a:off x="4790115" y="117662"/>
            <a:ext cx="4132870" cy="207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Exploration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  </a:t>
            </a:r>
            <a:r>
              <a:rPr lang="es-419" sz="900" b="1" err="1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Simulation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Future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Work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" name="Google Shape;523;p65">
            <a:extLst>
              <a:ext uri="{FF2B5EF4-FFF2-40B4-BE49-F238E27FC236}">
                <a16:creationId xmlns:a16="http://schemas.microsoft.com/office/drawing/2014/main" id="{6FD979AE-7E62-AFE6-8BA5-56D2A9002D29}"/>
              </a:ext>
            </a:extLst>
          </p:cNvPr>
          <p:cNvCxnSpPr/>
          <p:nvPr/>
        </p:nvCxnSpPr>
        <p:spPr>
          <a:xfrm>
            <a:off x="5713439" y="325381"/>
            <a:ext cx="24756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523517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>
          <a:extLst>
            <a:ext uri="{FF2B5EF4-FFF2-40B4-BE49-F238E27FC236}">
              <a16:creationId xmlns:a16="http://schemas.microsoft.com/office/drawing/2014/main" id="{F20AF59E-36CC-FEE0-C2EB-E4249E6B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F80E11-FE3B-1E50-6061-21DFB15E9795}"/>
              </a:ext>
            </a:extLst>
          </p:cNvPr>
          <p:cNvSpPr/>
          <p:nvPr/>
        </p:nvSpPr>
        <p:spPr>
          <a:xfrm>
            <a:off x="2387294" y="3163379"/>
            <a:ext cx="1223878" cy="2388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149E2B59-1D05-D4D4-0503-EA830F90004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-2177759" y="2177760"/>
            <a:ext cx="5118308" cy="762788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B005FD4-32BE-208A-3F87-C65DFE61FC76}"/>
              </a:ext>
            </a:extLst>
          </p:cNvPr>
          <p:cNvSpPr/>
          <p:nvPr/>
        </p:nvSpPr>
        <p:spPr>
          <a:xfrm>
            <a:off x="368198" y="-12702"/>
            <a:ext cx="2401861" cy="5156202"/>
          </a:xfrm>
          <a:custGeom>
            <a:avLst/>
            <a:gdLst>
              <a:gd name="connsiteX0" fmla="*/ 0 w 514350"/>
              <a:gd name="connsiteY0" fmla="*/ 139700 h 139700"/>
              <a:gd name="connsiteX1" fmla="*/ 514350 w 514350"/>
              <a:gd name="connsiteY1" fmla="*/ 0 h 13970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41913"/>
              <a:gd name="connsiteY0" fmla="*/ 142192 h 142192"/>
              <a:gd name="connsiteX1" fmla="*/ 441913 w 441913"/>
              <a:gd name="connsiteY1" fmla="*/ 0 h 142192"/>
              <a:gd name="connsiteX0" fmla="*/ 0 w 441913"/>
              <a:gd name="connsiteY0" fmla="*/ 142192 h 142192"/>
              <a:gd name="connsiteX1" fmla="*/ 441913 w 441913"/>
              <a:gd name="connsiteY1" fmla="*/ 0 h 14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1913" h="142192">
                <a:moveTo>
                  <a:pt x="0" y="142192"/>
                </a:moveTo>
                <a:cubicBezTo>
                  <a:pt x="208491" y="132138"/>
                  <a:pt x="436222" y="91909"/>
                  <a:pt x="441913" y="0"/>
                </a:cubicBezTo>
              </a:path>
            </a:pathLst>
          </a:cu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Google Shape;483;p63">
            <a:extLst>
              <a:ext uri="{FF2B5EF4-FFF2-40B4-BE49-F238E27FC236}">
                <a16:creationId xmlns:a16="http://schemas.microsoft.com/office/drawing/2014/main" id="{5D716355-9741-6485-9059-FD48AEFA821D}"/>
              </a:ext>
            </a:extLst>
          </p:cNvPr>
          <p:cNvSpPr/>
          <p:nvPr/>
        </p:nvSpPr>
        <p:spPr>
          <a:xfrm>
            <a:off x="2335416" y="310245"/>
            <a:ext cx="769500" cy="7695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84" name="Google Shape;484;p63">
            <a:extLst>
              <a:ext uri="{FF2B5EF4-FFF2-40B4-BE49-F238E27FC236}">
                <a16:creationId xmlns:a16="http://schemas.microsoft.com/office/drawing/2014/main" id="{6EF2B9CB-D766-8AE1-3225-591EEF26AEED}"/>
              </a:ext>
            </a:extLst>
          </p:cNvPr>
          <p:cNvSpPr/>
          <p:nvPr/>
        </p:nvSpPr>
        <p:spPr>
          <a:xfrm>
            <a:off x="2238966" y="1216049"/>
            <a:ext cx="769500" cy="76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85" name="Google Shape;485;p63">
            <a:extLst>
              <a:ext uri="{FF2B5EF4-FFF2-40B4-BE49-F238E27FC236}">
                <a16:creationId xmlns:a16="http://schemas.microsoft.com/office/drawing/2014/main" id="{E6AC6939-A29D-45F5-1476-3F354457EE25}"/>
              </a:ext>
            </a:extLst>
          </p:cNvPr>
          <p:cNvSpPr/>
          <p:nvPr/>
        </p:nvSpPr>
        <p:spPr>
          <a:xfrm>
            <a:off x="1944564" y="2218928"/>
            <a:ext cx="769500" cy="769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86" name="Google Shape;486;p63">
            <a:extLst>
              <a:ext uri="{FF2B5EF4-FFF2-40B4-BE49-F238E27FC236}">
                <a16:creationId xmlns:a16="http://schemas.microsoft.com/office/drawing/2014/main" id="{4D0E1074-5AEC-1BDB-493D-08E6AD9EC9DB}"/>
              </a:ext>
            </a:extLst>
          </p:cNvPr>
          <p:cNvSpPr txBox="1"/>
          <p:nvPr/>
        </p:nvSpPr>
        <p:spPr>
          <a:xfrm>
            <a:off x="6962057" y="102337"/>
            <a:ext cx="1553293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3000"/>
              <a:buFont typeface="Open Sans"/>
              <a:buNone/>
            </a:pPr>
            <a:r>
              <a:rPr lang="en-US" sz="3000" b="1" cap="small">
                <a:solidFill>
                  <a:srgbClr val="44546A"/>
                </a:solidFill>
                <a:latin typeface="Open Sans"/>
                <a:ea typeface="Open Sans"/>
                <a:cs typeface="Open Sans"/>
                <a:sym typeface="Open Sans"/>
              </a:rPr>
              <a:t>outline</a:t>
            </a:r>
            <a:endParaRPr lang="en-US" sz="1100"/>
          </a:p>
        </p:txBody>
      </p:sp>
      <p:sp>
        <p:nvSpPr>
          <p:cNvPr id="487" name="Google Shape;487;p63">
            <a:extLst>
              <a:ext uri="{FF2B5EF4-FFF2-40B4-BE49-F238E27FC236}">
                <a16:creationId xmlns:a16="http://schemas.microsoft.com/office/drawing/2014/main" id="{E887840D-87B7-9E20-F83F-8DF78E7C49B2}"/>
              </a:ext>
            </a:extLst>
          </p:cNvPr>
          <p:cNvSpPr txBox="1"/>
          <p:nvPr/>
        </p:nvSpPr>
        <p:spPr>
          <a:xfrm>
            <a:off x="3201366" y="319920"/>
            <a:ext cx="1889923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MX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BACKGROUND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endParaRPr lang="es-419" sz="120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br>
              <a:rPr lang="es-419" sz="12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s-419" sz="1200" b="1" i="0" u="none" strike="noStrike" cap="none">
                <a:solidFill>
                  <a:srgbClr val="70AD47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9" name="Google Shape;489;p63">
            <a:extLst>
              <a:ext uri="{FF2B5EF4-FFF2-40B4-BE49-F238E27FC236}">
                <a16:creationId xmlns:a16="http://schemas.microsoft.com/office/drawing/2014/main" id="{FA3EF89B-2F43-B699-AFDC-7CDDD3C7229C}"/>
              </a:ext>
            </a:extLst>
          </p:cNvPr>
          <p:cNvSpPr txBox="1"/>
          <p:nvPr/>
        </p:nvSpPr>
        <p:spPr>
          <a:xfrm>
            <a:off x="2772661" y="2200130"/>
            <a:ext cx="1412675" cy="253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1200" b="1" i="0" u="none" strike="noStrike" cap="non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63">
            <a:extLst>
              <a:ext uri="{FF2B5EF4-FFF2-40B4-BE49-F238E27FC236}">
                <a16:creationId xmlns:a16="http://schemas.microsoft.com/office/drawing/2014/main" id="{FF17CEB0-24DA-B5C9-86D8-C09485C67739}"/>
              </a:ext>
            </a:extLst>
          </p:cNvPr>
          <p:cNvSpPr txBox="1"/>
          <p:nvPr/>
        </p:nvSpPr>
        <p:spPr>
          <a:xfrm>
            <a:off x="3146375" y="1223539"/>
            <a:ext cx="1690369" cy="253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EXPLORATION</a:t>
            </a:r>
            <a:endParaRPr sz="1200" b="0" i="0" u="none" strike="noStrike" cap="none">
              <a:solidFill>
                <a:srgbClr val="0000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4" name="Google Shape;494;p63">
            <a:extLst>
              <a:ext uri="{FF2B5EF4-FFF2-40B4-BE49-F238E27FC236}">
                <a16:creationId xmlns:a16="http://schemas.microsoft.com/office/drawing/2014/main" id="{C425F320-0521-ED75-198F-8BD62185E851}"/>
              </a:ext>
            </a:extLst>
          </p:cNvPr>
          <p:cNvSpPr/>
          <p:nvPr/>
        </p:nvSpPr>
        <p:spPr>
          <a:xfrm>
            <a:off x="2431866" y="406695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5" name="Google Shape;495;p63">
            <a:extLst>
              <a:ext uri="{FF2B5EF4-FFF2-40B4-BE49-F238E27FC236}">
                <a16:creationId xmlns:a16="http://schemas.microsoft.com/office/drawing/2014/main" id="{76F26D9D-44D0-02E8-7C13-8B639E62BC34}"/>
              </a:ext>
            </a:extLst>
          </p:cNvPr>
          <p:cNvSpPr/>
          <p:nvPr/>
        </p:nvSpPr>
        <p:spPr>
          <a:xfrm>
            <a:off x="2335418" y="1315677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6" name="Google Shape;496;p63">
            <a:extLst>
              <a:ext uri="{FF2B5EF4-FFF2-40B4-BE49-F238E27FC236}">
                <a16:creationId xmlns:a16="http://schemas.microsoft.com/office/drawing/2014/main" id="{FE3518BF-BCDF-DC26-70DE-3F1632260332}"/>
              </a:ext>
            </a:extLst>
          </p:cNvPr>
          <p:cNvSpPr/>
          <p:nvPr/>
        </p:nvSpPr>
        <p:spPr>
          <a:xfrm>
            <a:off x="2031713" y="2314664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8" name="Google Shape;498;p63">
            <a:extLst>
              <a:ext uri="{FF2B5EF4-FFF2-40B4-BE49-F238E27FC236}">
                <a16:creationId xmlns:a16="http://schemas.microsoft.com/office/drawing/2014/main" id="{0263CBF5-5012-2CB9-439B-7CAF454D2C4F}"/>
              </a:ext>
            </a:extLst>
          </p:cNvPr>
          <p:cNvSpPr/>
          <p:nvPr/>
        </p:nvSpPr>
        <p:spPr>
          <a:xfrm>
            <a:off x="2427975" y="1409124"/>
            <a:ext cx="391554" cy="39155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0700" tIns="10700" rIns="10700" bIns="10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ill Sans"/>
              <a:buNone/>
            </a:pPr>
            <a:endParaRPr sz="8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499" name="Google Shape;499;p63">
            <a:extLst>
              <a:ext uri="{FF2B5EF4-FFF2-40B4-BE49-F238E27FC236}">
                <a16:creationId xmlns:a16="http://schemas.microsoft.com/office/drawing/2014/main" id="{FF91F2F0-A4BB-0462-BAE1-F677862770D9}"/>
              </a:ext>
            </a:extLst>
          </p:cNvPr>
          <p:cNvSpPr/>
          <p:nvPr/>
        </p:nvSpPr>
        <p:spPr>
          <a:xfrm>
            <a:off x="2145900" y="2447572"/>
            <a:ext cx="348300" cy="28495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chemeClr val="tx1"/>
          </a:solidFill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spcFirstLastPara="1" wrap="square" lIns="10700" tIns="10700" rIns="10700" bIns="10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ill Sans"/>
              <a:buNone/>
            </a:pPr>
            <a:endParaRPr sz="8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500" name="Google Shape;500;p63">
            <a:extLst>
              <a:ext uri="{FF2B5EF4-FFF2-40B4-BE49-F238E27FC236}">
                <a16:creationId xmlns:a16="http://schemas.microsoft.com/office/drawing/2014/main" id="{DD0B1126-09F1-E757-D22A-DA82E9E0327B}"/>
              </a:ext>
            </a:extLst>
          </p:cNvPr>
          <p:cNvSpPr/>
          <p:nvPr/>
        </p:nvSpPr>
        <p:spPr>
          <a:xfrm>
            <a:off x="1565916" y="3114311"/>
            <a:ext cx="769500" cy="76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02" name="Google Shape;502;p63">
            <a:extLst>
              <a:ext uri="{FF2B5EF4-FFF2-40B4-BE49-F238E27FC236}">
                <a16:creationId xmlns:a16="http://schemas.microsoft.com/office/drawing/2014/main" id="{4FCDBFC5-8CED-C0E2-0360-7DBFADB291FF}"/>
              </a:ext>
            </a:extLst>
          </p:cNvPr>
          <p:cNvSpPr txBox="1"/>
          <p:nvPr/>
        </p:nvSpPr>
        <p:spPr>
          <a:xfrm>
            <a:off x="2427975" y="3165873"/>
            <a:ext cx="1495500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SIMULATION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Google Shape;500;p63">
            <a:extLst>
              <a:ext uri="{FF2B5EF4-FFF2-40B4-BE49-F238E27FC236}">
                <a16:creationId xmlns:a16="http://schemas.microsoft.com/office/drawing/2014/main" id="{5916F62C-2A46-69A5-F6C9-5DCFA0E93E2B}"/>
              </a:ext>
            </a:extLst>
          </p:cNvPr>
          <p:cNvSpPr/>
          <p:nvPr/>
        </p:nvSpPr>
        <p:spPr>
          <a:xfrm>
            <a:off x="1081293" y="3997763"/>
            <a:ext cx="769500" cy="76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0614A24-24E7-8899-9AF6-0DDC7A32FF9B}"/>
              </a:ext>
            </a:extLst>
          </p:cNvPr>
          <p:cNvCxnSpPr>
            <a:cxnSpLocks/>
          </p:cNvCxnSpPr>
          <p:nvPr/>
        </p:nvCxnSpPr>
        <p:spPr>
          <a:xfrm>
            <a:off x="611188" y="708147"/>
            <a:ext cx="16277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BD9ACD0-3615-B298-B55F-4DFBA0A54B2B}"/>
              </a:ext>
            </a:extLst>
          </p:cNvPr>
          <p:cNvCxnSpPr>
            <a:cxnSpLocks/>
          </p:cNvCxnSpPr>
          <p:nvPr/>
        </p:nvCxnSpPr>
        <p:spPr>
          <a:xfrm>
            <a:off x="611188" y="1541758"/>
            <a:ext cx="14898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122431D-819D-5C2A-F2D0-DBD5EEC80881}"/>
              </a:ext>
            </a:extLst>
          </p:cNvPr>
          <p:cNvCxnSpPr>
            <a:cxnSpLocks/>
          </p:cNvCxnSpPr>
          <p:nvPr/>
        </p:nvCxnSpPr>
        <p:spPr>
          <a:xfrm>
            <a:off x="604678" y="2575831"/>
            <a:ext cx="1181867" cy="4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37C846C-18FF-9C87-40FA-D0708B434959}"/>
              </a:ext>
            </a:extLst>
          </p:cNvPr>
          <p:cNvCxnSpPr>
            <a:cxnSpLocks/>
          </p:cNvCxnSpPr>
          <p:nvPr/>
        </p:nvCxnSpPr>
        <p:spPr>
          <a:xfrm>
            <a:off x="611188" y="3499061"/>
            <a:ext cx="786756" cy="0"/>
          </a:xfrm>
          <a:prstGeom prst="straightConnector1">
            <a:avLst/>
          </a:prstGeom>
          <a:ln w="889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506B8BE-5361-8277-8A62-B328379E34ED}"/>
              </a:ext>
            </a:extLst>
          </p:cNvPr>
          <p:cNvCxnSpPr>
            <a:cxnSpLocks/>
          </p:cNvCxnSpPr>
          <p:nvPr/>
        </p:nvCxnSpPr>
        <p:spPr>
          <a:xfrm>
            <a:off x="611188" y="4379460"/>
            <a:ext cx="3703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Google Shape;494;p63">
            <a:extLst>
              <a:ext uri="{FF2B5EF4-FFF2-40B4-BE49-F238E27FC236}">
                <a16:creationId xmlns:a16="http://schemas.microsoft.com/office/drawing/2014/main" id="{E24457EE-7439-5B9C-CB98-E25E2162A1A9}"/>
              </a:ext>
            </a:extLst>
          </p:cNvPr>
          <p:cNvSpPr/>
          <p:nvPr/>
        </p:nvSpPr>
        <p:spPr>
          <a:xfrm>
            <a:off x="1662366" y="3207479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4" name="Google Shape;494;p63">
            <a:extLst>
              <a:ext uri="{FF2B5EF4-FFF2-40B4-BE49-F238E27FC236}">
                <a16:creationId xmlns:a16="http://schemas.microsoft.com/office/drawing/2014/main" id="{D14A2CEF-983B-A37D-02D4-EEE2DDCBFA41}"/>
              </a:ext>
            </a:extLst>
          </p:cNvPr>
          <p:cNvSpPr/>
          <p:nvPr/>
        </p:nvSpPr>
        <p:spPr>
          <a:xfrm>
            <a:off x="1177743" y="4095146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" name="Google Shape;492;p63">
            <a:extLst>
              <a:ext uri="{FF2B5EF4-FFF2-40B4-BE49-F238E27FC236}">
                <a16:creationId xmlns:a16="http://schemas.microsoft.com/office/drawing/2014/main" id="{71571918-AADE-1335-204A-849D0B65C0FD}"/>
              </a:ext>
            </a:extLst>
          </p:cNvPr>
          <p:cNvSpPr txBox="1"/>
          <p:nvPr/>
        </p:nvSpPr>
        <p:spPr>
          <a:xfrm>
            <a:off x="1947126" y="4095146"/>
            <a:ext cx="1690369" cy="253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FUTURE WORK</a:t>
            </a:r>
            <a:endParaRPr sz="1200" b="0" i="0" u="none" strike="noStrike" cap="none">
              <a:solidFill>
                <a:srgbClr val="0000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39" name="Graphic 38" descr="City outline">
            <a:extLst>
              <a:ext uri="{FF2B5EF4-FFF2-40B4-BE49-F238E27FC236}">
                <a16:creationId xmlns:a16="http://schemas.microsoft.com/office/drawing/2014/main" id="{FD57C842-87BA-8A1A-BD56-8F3DE0D6A6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61673" y="411033"/>
            <a:ext cx="514067" cy="514067"/>
          </a:xfrm>
          <a:prstGeom prst="rect">
            <a:avLst/>
          </a:prstGeom>
        </p:spPr>
      </p:pic>
      <p:pic>
        <p:nvPicPr>
          <p:cNvPr id="41" name="Graphic 40" descr="Future with solid fill">
            <a:extLst>
              <a:ext uri="{FF2B5EF4-FFF2-40B4-BE49-F238E27FC236}">
                <a16:creationId xmlns:a16="http://schemas.microsoft.com/office/drawing/2014/main" id="{09F8C3E7-4E57-FA07-9C70-D656F02011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2816" y="4146233"/>
            <a:ext cx="466453" cy="466453"/>
          </a:xfrm>
          <a:prstGeom prst="rect">
            <a:avLst/>
          </a:prstGeom>
        </p:spPr>
      </p:pic>
      <p:pic>
        <p:nvPicPr>
          <p:cNvPr id="43" name="Graphic 42" descr="Windy with solid fill">
            <a:extLst>
              <a:ext uri="{FF2B5EF4-FFF2-40B4-BE49-F238E27FC236}">
                <a16:creationId xmlns:a16="http://schemas.microsoft.com/office/drawing/2014/main" id="{33D4027A-CBEB-72D1-2E24-FEF9E1EA035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36326" y="3187540"/>
            <a:ext cx="616477" cy="616477"/>
          </a:xfrm>
          <a:prstGeom prst="rect">
            <a:avLst/>
          </a:prstGeom>
        </p:spPr>
      </p:pic>
      <p:sp>
        <p:nvSpPr>
          <p:cNvPr id="9" name="Google Shape;490;p63">
            <a:extLst>
              <a:ext uri="{FF2B5EF4-FFF2-40B4-BE49-F238E27FC236}">
                <a16:creationId xmlns:a16="http://schemas.microsoft.com/office/drawing/2014/main" id="{1ADECDE6-EC20-AB8B-7CE3-5F6F6627D362}"/>
              </a:ext>
            </a:extLst>
          </p:cNvPr>
          <p:cNvSpPr txBox="1"/>
          <p:nvPr/>
        </p:nvSpPr>
        <p:spPr>
          <a:xfrm>
            <a:off x="2744013" y="2497382"/>
            <a:ext cx="5652348" cy="99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s-419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City4CFD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s-419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ANSA scripting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493;p63">
            <a:extLst>
              <a:ext uri="{FF2B5EF4-FFF2-40B4-BE49-F238E27FC236}">
                <a16:creationId xmlns:a16="http://schemas.microsoft.com/office/drawing/2014/main" id="{F54C6276-3A4D-F26B-F05B-A4A67982470C}"/>
              </a:ext>
            </a:extLst>
          </p:cNvPr>
          <p:cNvSpPr txBox="1"/>
          <p:nvPr/>
        </p:nvSpPr>
        <p:spPr>
          <a:xfrm>
            <a:off x="3146373" y="1431300"/>
            <a:ext cx="4426819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City4CFD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Open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source</a:t>
            </a: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datasets</a:t>
            </a:r>
            <a:endParaRPr kumimoji="0" lang="es-MX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" name="Google Shape;493;p63">
            <a:extLst>
              <a:ext uri="{FF2B5EF4-FFF2-40B4-BE49-F238E27FC236}">
                <a16:creationId xmlns:a16="http://schemas.microsoft.com/office/drawing/2014/main" id="{FB4A5651-668B-D94F-BEA8-152C7EB1AFF3}"/>
              </a:ext>
            </a:extLst>
          </p:cNvPr>
          <p:cNvSpPr txBox="1"/>
          <p:nvPr/>
        </p:nvSpPr>
        <p:spPr>
          <a:xfrm>
            <a:off x="1944564" y="4291480"/>
            <a:ext cx="4426819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FLIC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3" name="Google Shape;493;p63">
            <a:extLst>
              <a:ext uri="{FF2B5EF4-FFF2-40B4-BE49-F238E27FC236}">
                <a16:creationId xmlns:a16="http://schemas.microsoft.com/office/drawing/2014/main" id="{F7919A81-DEC8-80AB-39BE-B5423C1B2633}"/>
              </a:ext>
            </a:extLst>
          </p:cNvPr>
          <p:cNvSpPr txBox="1"/>
          <p:nvPr/>
        </p:nvSpPr>
        <p:spPr>
          <a:xfrm>
            <a:off x="3201366" y="547285"/>
            <a:ext cx="4426819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Expansion</a:t>
            </a: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</a:t>
            </a: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Digital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Twins</a:t>
            </a:r>
            <a:endParaRPr kumimoji="0" lang="es-MX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BEA8BB-0B9F-597B-E7AF-DE217C39A0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419"/>
              <a:t>12</a:t>
            </a:fld>
            <a:endParaRPr lang="es-ES"/>
          </a:p>
        </p:txBody>
      </p:sp>
      <p:sp>
        <p:nvSpPr>
          <p:cNvPr id="6" name="Google Shape;490;p63">
            <a:extLst>
              <a:ext uri="{FF2B5EF4-FFF2-40B4-BE49-F238E27FC236}">
                <a16:creationId xmlns:a16="http://schemas.microsoft.com/office/drawing/2014/main" id="{9A1C1E5B-7507-238D-C4D6-1E9B0DB0B6C9}"/>
              </a:ext>
            </a:extLst>
          </p:cNvPr>
          <p:cNvSpPr txBox="1"/>
          <p:nvPr/>
        </p:nvSpPr>
        <p:spPr>
          <a:xfrm>
            <a:off x="2488138" y="3365888"/>
            <a:ext cx="2073950" cy="117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CEDVAL case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Monterrey </a:t>
            </a:r>
            <a:r>
              <a:rPr lang="es-MX" sz="1200"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endParaRPr lang="es-MX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Terrassa case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535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94B2F-6065-BD0A-2B3C-99AC63442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B212C8-D42E-28CC-9EE2-1627091050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0B04795-0DE7-4ECC-8A35-5B225D21AD06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3" name="Google Shape;518;p65">
            <a:extLst>
              <a:ext uri="{FF2B5EF4-FFF2-40B4-BE49-F238E27FC236}">
                <a16:creationId xmlns:a16="http://schemas.microsoft.com/office/drawing/2014/main" id="{FF11337A-D5C9-2C1A-F13F-0C9A8AAEC7C2}"/>
              </a:ext>
            </a:extLst>
          </p:cNvPr>
          <p:cNvSpPr txBox="1"/>
          <p:nvPr/>
        </p:nvSpPr>
        <p:spPr>
          <a:xfrm>
            <a:off x="484296" y="289021"/>
            <a:ext cx="6431195" cy="57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err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" name="Google Shape;519;p65">
            <a:extLst>
              <a:ext uri="{FF2B5EF4-FFF2-40B4-BE49-F238E27FC236}">
                <a16:creationId xmlns:a16="http://schemas.microsoft.com/office/drawing/2014/main" id="{8CE42388-2190-97E5-C008-9A330643EB9C}"/>
              </a:ext>
            </a:extLst>
          </p:cNvPr>
          <p:cNvCxnSpPr/>
          <p:nvPr/>
        </p:nvCxnSpPr>
        <p:spPr>
          <a:xfrm>
            <a:off x="554038" y="577621"/>
            <a:ext cx="24027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" name="Picture 2" descr="A computer screen shot of a yellow square&#10;&#10;AI-generated content may be incorrect.">
            <a:extLst>
              <a:ext uri="{FF2B5EF4-FFF2-40B4-BE49-F238E27FC236}">
                <a16:creationId xmlns:a16="http://schemas.microsoft.com/office/drawing/2014/main" id="{527B1550-9677-A49B-7454-B8F7AD83A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853" y="675127"/>
            <a:ext cx="2794220" cy="1498367"/>
          </a:xfrm>
          <a:prstGeom prst="rect">
            <a:avLst/>
          </a:prstGeom>
        </p:spPr>
      </p:pic>
      <p:pic>
        <p:nvPicPr>
          <p:cNvPr id="12" name="Picture 3" descr="A computer generated image of a square object&#10;&#10;AI-generated content may be incorrect.">
            <a:extLst>
              <a:ext uri="{FF2B5EF4-FFF2-40B4-BE49-F238E27FC236}">
                <a16:creationId xmlns:a16="http://schemas.microsoft.com/office/drawing/2014/main" id="{170DC0EE-021E-71D3-0F19-11357FCA9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765" y="571990"/>
            <a:ext cx="2983231" cy="1602140"/>
          </a:xfrm>
          <a:prstGeom prst="rect">
            <a:avLst/>
          </a:prstGeom>
        </p:spPr>
      </p:pic>
      <p:sp>
        <p:nvSpPr>
          <p:cNvPr id="15" name="TextBox 5">
            <a:extLst>
              <a:ext uri="{FF2B5EF4-FFF2-40B4-BE49-F238E27FC236}">
                <a16:creationId xmlns:a16="http://schemas.microsoft.com/office/drawing/2014/main" id="{473C2AFF-DFFD-268A-C59D-5E2CD9E1FD73}"/>
              </a:ext>
            </a:extLst>
          </p:cNvPr>
          <p:cNvSpPr txBox="1"/>
          <p:nvPr/>
        </p:nvSpPr>
        <p:spPr>
          <a:xfrm>
            <a:off x="1334598" y="2134295"/>
            <a:ext cx="2067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baumans"/>
              </a:rPr>
              <a:t>Small Monterrey sample</a:t>
            </a: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69A94F26-7DC4-82DA-C875-12977D17DA4C}"/>
              </a:ext>
            </a:extLst>
          </p:cNvPr>
          <p:cNvSpPr txBox="1"/>
          <p:nvPr/>
        </p:nvSpPr>
        <p:spPr>
          <a:xfrm>
            <a:off x="5643689" y="2134295"/>
            <a:ext cx="1877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baumans"/>
              </a:rPr>
              <a:t>Random BCN sample</a:t>
            </a:r>
          </a:p>
        </p:txBody>
      </p:sp>
      <p:pic>
        <p:nvPicPr>
          <p:cNvPr id="20" name="Picture 8" descr="A low polygonal structure with black dots&#10;&#10;AI-generated content may be incorrect.">
            <a:extLst>
              <a:ext uri="{FF2B5EF4-FFF2-40B4-BE49-F238E27FC236}">
                <a16:creationId xmlns:a16="http://schemas.microsoft.com/office/drawing/2014/main" id="{81CB095E-B058-4DB7-1DDA-ECB6E7A23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56" y="2434772"/>
            <a:ext cx="3567344" cy="1972135"/>
          </a:xfrm>
          <a:prstGeom prst="rect">
            <a:avLst/>
          </a:prstGeom>
        </p:spPr>
      </p:pic>
      <p:sp>
        <p:nvSpPr>
          <p:cNvPr id="23" name="TextBox 9">
            <a:extLst>
              <a:ext uri="{FF2B5EF4-FFF2-40B4-BE49-F238E27FC236}">
                <a16:creationId xmlns:a16="http://schemas.microsoft.com/office/drawing/2014/main" id="{0148DAD5-C467-64B9-3FAB-19836DB51A49}"/>
              </a:ext>
            </a:extLst>
          </p:cNvPr>
          <p:cNvSpPr txBox="1"/>
          <p:nvPr/>
        </p:nvSpPr>
        <p:spPr>
          <a:xfrm>
            <a:off x="974502" y="4314484"/>
            <a:ext cx="28209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baumans"/>
              </a:rPr>
              <a:t>Random BCN volume mesh sample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D462D65C-1B72-9915-FE39-858C384B5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714" y="2442073"/>
            <a:ext cx="3803196" cy="1919424"/>
          </a:xfrm>
          <a:prstGeom prst="rect">
            <a:avLst/>
          </a:prstGeom>
        </p:spPr>
      </p:pic>
      <p:sp>
        <p:nvSpPr>
          <p:cNvPr id="4" name="Google Shape;520;p65">
            <a:extLst>
              <a:ext uri="{FF2B5EF4-FFF2-40B4-BE49-F238E27FC236}">
                <a16:creationId xmlns:a16="http://schemas.microsoft.com/office/drawing/2014/main" id="{052F0DD2-1032-215E-D1B3-0DF683C3297B}"/>
              </a:ext>
            </a:extLst>
          </p:cNvPr>
          <p:cNvSpPr txBox="1"/>
          <p:nvPr/>
        </p:nvSpPr>
        <p:spPr>
          <a:xfrm>
            <a:off x="4790115" y="117662"/>
            <a:ext cx="4132870" cy="207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Exploration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b="1" err="1">
                <a:latin typeface="Times New Roman"/>
                <a:ea typeface="Times New Roman"/>
                <a:cs typeface="Times New Roman"/>
                <a:sym typeface="Times New Roman"/>
              </a:rPr>
              <a:t>Simulation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Future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Work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" name="Google Shape;523;p65">
            <a:extLst>
              <a:ext uri="{FF2B5EF4-FFF2-40B4-BE49-F238E27FC236}">
                <a16:creationId xmlns:a16="http://schemas.microsoft.com/office/drawing/2014/main" id="{A106199A-FED8-1E46-06AF-0ADCE4D52841}"/>
              </a:ext>
            </a:extLst>
          </p:cNvPr>
          <p:cNvCxnSpPr/>
          <p:nvPr/>
        </p:nvCxnSpPr>
        <p:spPr>
          <a:xfrm>
            <a:off x="5713439" y="325381"/>
            <a:ext cx="24756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032291D-0093-1EE3-610C-3433A0FF9D08}"/>
              </a:ext>
            </a:extLst>
          </p:cNvPr>
          <p:cNvSpPr txBox="1"/>
          <p:nvPr/>
        </p:nvSpPr>
        <p:spPr>
          <a:xfrm>
            <a:off x="5840925" y="4352492"/>
            <a:ext cx="192074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latin typeface="baumans"/>
              </a:rPr>
              <a:t>Terrassa sample mesh</a:t>
            </a:r>
          </a:p>
        </p:txBody>
      </p:sp>
    </p:spTree>
    <p:extLst>
      <p:ext uri="{BB962C8B-B14F-4D97-AF65-F5344CB8AC3E}">
        <p14:creationId xmlns:p14="http://schemas.microsoft.com/office/powerpoint/2010/main" val="94674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3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C7229-9D1A-2CD5-79FD-4E4E26A9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231BA-E6DB-8B19-36A2-B8E3D4AC1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0B04795-0DE7-4ECC-8A35-5B225D21AD06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4" name="Google Shape;518;p65">
            <a:extLst>
              <a:ext uri="{FF2B5EF4-FFF2-40B4-BE49-F238E27FC236}">
                <a16:creationId xmlns:a16="http://schemas.microsoft.com/office/drawing/2014/main" id="{EAA30AFA-E393-61AC-6478-34BFE7614DA3}"/>
              </a:ext>
            </a:extLst>
          </p:cNvPr>
          <p:cNvSpPr txBox="1"/>
          <p:nvPr/>
        </p:nvSpPr>
        <p:spPr>
          <a:xfrm>
            <a:off x="484296" y="289021"/>
            <a:ext cx="6431195" cy="57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lang="es-MX" sz="1800" b="1" err="1">
                <a:solidFill>
                  <a:srgbClr val="0033A0"/>
                </a:solidFill>
                <a:latin typeface="Times New Roman"/>
                <a:cs typeface="Times New Roman"/>
              </a:rPr>
              <a:t>Simulation</a:t>
            </a:r>
            <a:r>
              <a:rPr lang="es-MX" sz="1800" b="1">
                <a:solidFill>
                  <a:srgbClr val="0033A0"/>
                </a:solidFill>
                <a:latin typeface="Times New Roman"/>
                <a:cs typeface="Times New Roman"/>
              </a:rPr>
              <a:t>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cs typeface="Times New Roman"/>
              </a:rPr>
              <a:t>results</a:t>
            </a:r>
            <a:r>
              <a:rPr lang="es-MX" sz="1800" b="1">
                <a:solidFill>
                  <a:srgbClr val="0033A0"/>
                </a:solidFill>
                <a:latin typeface="Times New Roman"/>
                <a:cs typeface="Times New Roman"/>
              </a:rPr>
              <a:t>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cs typeface="Times New Roman"/>
              </a:rPr>
              <a:t>examples</a:t>
            </a:r>
            <a:endParaRPr lang="es-MX" sz="1800" b="1">
              <a:solidFill>
                <a:srgbClr val="0033A0"/>
              </a:solidFill>
              <a:latin typeface="Times New Roman"/>
              <a:cs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" name="Google Shape;519;p65">
            <a:extLst>
              <a:ext uri="{FF2B5EF4-FFF2-40B4-BE49-F238E27FC236}">
                <a16:creationId xmlns:a16="http://schemas.microsoft.com/office/drawing/2014/main" id="{0C629378-C7A1-BCFC-3DF5-BB1040C99DC9}"/>
              </a:ext>
            </a:extLst>
          </p:cNvPr>
          <p:cNvCxnSpPr/>
          <p:nvPr/>
        </p:nvCxnSpPr>
        <p:spPr>
          <a:xfrm>
            <a:off x="554038" y="577621"/>
            <a:ext cx="24027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" name="AutoShape 2">
            <a:extLst>
              <a:ext uri="{FF2B5EF4-FFF2-40B4-BE49-F238E27FC236}">
                <a16:creationId xmlns:a16="http://schemas.microsoft.com/office/drawing/2014/main" id="{495F3C0F-FC4E-7009-B584-EB83DFF745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3F197B04-4491-3237-FC09-067AA9E987FA}"/>
              </a:ext>
            </a:extLst>
          </p:cNvPr>
          <p:cNvSpPr txBox="1"/>
          <p:nvPr/>
        </p:nvSpPr>
        <p:spPr>
          <a:xfrm>
            <a:off x="2139012" y="3082504"/>
            <a:ext cx="1329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baumans"/>
              </a:rPr>
              <a:t>CEDVAL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3521C18C-3C87-C28E-8CC1-3A077FED46AA}"/>
              </a:ext>
            </a:extLst>
          </p:cNvPr>
          <p:cNvSpPr txBox="1"/>
          <p:nvPr/>
        </p:nvSpPr>
        <p:spPr>
          <a:xfrm>
            <a:off x="6355546" y="1820399"/>
            <a:ext cx="1175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baumans"/>
              </a:rPr>
              <a:t>Monterrey</a:t>
            </a:r>
          </a:p>
        </p:txBody>
      </p:sp>
      <p:pic>
        <p:nvPicPr>
          <p:cNvPr id="21" name="Picture 4" descr="A blue rectangular object with a square design&#10;&#10;AI-generated content may be incorrect.">
            <a:extLst>
              <a:ext uri="{FF2B5EF4-FFF2-40B4-BE49-F238E27FC236}">
                <a16:creationId xmlns:a16="http://schemas.microsoft.com/office/drawing/2014/main" id="{ED08BE04-8D4A-64B4-BB0D-1DB0D422C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82" y="807929"/>
            <a:ext cx="4022725" cy="2332719"/>
          </a:xfrm>
          <a:prstGeom prst="rect">
            <a:avLst/>
          </a:prstGeom>
        </p:spPr>
      </p:pic>
      <p:pic>
        <p:nvPicPr>
          <p:cNvPr id="27" name="Imagen 26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BD6CC563-8A89-792B-95C9-4D6ACB83A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808" y="2216505"/>
            <a:ext cx="4230462" cy="2342532"/>
          </a:xfrm>
          <a:prstGeom prst="rect">
            <a:avLst/>
          </a:prstGeom>
        </p:spPr>
      </p:pic>
      <p:sp>
        <p:nvSpPr>
          <p:cNvPr id="3" name="Google Shape;520;p65">
            <a:extLst>
              <a:ext uri="{FF2B5EF4-FFF2-40B4-BE49-F238E27FC236}">
                <a16:creationId xmlns:a16="http://schemas.microsoft.com/office/drawing/2014/main" id="{9B2A14C7-0B31-6E3D-79D1-BE3498D8D6F8}"/>
              </a:ext>
            </a:extLst>
          </p:cNvPr>
          <p:cNvSpPr txBox="1"/>
          <p:nvPr/>
        </p:nvSpPr>
        <p:spPr>
          <a:xfrm>
            <a:off x="4790115" y="117662"/>
            <a:ext cx="4132870" cy="207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Exploration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b="1" err="1">
                <a:latin typeface="Times New Roman"/>
                <a:ea typeface="Times New Roman"/>
                <a:cs typeface="Times New Roman"/>
                <a:sym typeface="Times New Roman"/>
              </a:rPr>
              <a:t>Simulation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Future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Work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" name="Google Shape;523;p65">
            <a:extLst>
              <a:ext uri="{FF2B5EF4-FFF2-40B4-BE49-F238E27FC236}">
                <a16:creationId xmlns:a16="http://schemas.microsoft.com/office/drawing/2014/main" id="{311FC05F-9B57-9FF9-34B3-9A729E399072}"/>
              </a:ext>
            </a:extLst>
          </p:cNvPr>
          <p:cNvCxnSpPr/>
          <p:nvPr/>
        </p:nvCxnSpPr>
        <p:spPr>
          <a:xfrm>
            <a:off x="5713439" y="325381"/>
            <a:ext cx="24756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91844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4A442-2781-D57B-9F31-EB4184360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60C07A-9732-8457-89C7-62B7BC579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0B04795-0DE7-4ECC-8A35-5B225D21AD06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3" name="Google Shape;518;p65">
            <a:extLst>
              <a:ext uri="{FF2B5EF4-FFF2-40B4-BE49-F238E27FC236}">
                <a16:creationId xmlns:a16="http://schemas.microsoft.com/office/drawing/2014/main" id="{0744B8FB-2DFF-AFAA-AD88-CC1CE4830581}"/>
              </a:ext>
            </a:extLst>
          </p:cNvPr>
          <p:cNvSpPr txBox="1"/>
          <p:nvPr/>
        </p:nvSpPr>
        <p:spPr>
          <a:xfrm>
            <a:off x="484296" y="289021"/>
            <a:ext cx="6431195" cy="57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lang="es-MX" sz="1800" b="1">
                <a:solidFill>
                  <a:srgbClr val="0033A0"/>
                </a:solidFill>
                <a:latin typeface="Times New Roman"/>
                <a:cs typeface="Times New Roman"/>
              </a:rPr>
              <a:t>CEDVAL Test Results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" name="Google Shape;519;p65">
            <a:extLst>
              <a:ext uri="{FF2B5EF4-FFF2-40B4-BE49-F238E27FC236}">
                <a16:creationId xmlns:a16="http://schemas.microsoft.com/office/drawing/2014/main" id="{2E69DB01-BFEC-C0C8-F3F2-476EB89329EE}"/>
              </a:ext>
            </a:extLst>
          </p:cNvPr>
          <p:cNvCxnSpPr/>
          <p:nvPr/>
        </p:nvCxnSpPr>
        <p:spPr>
          <a:xfrm>
            <a:off x="554038" y="577621"/>
            <a:ext cx="24027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AutoShape 2">
            <a:extLst>
              <a:ext uri="{FF2B5EF4-FFF2-40B4-BE49-F238E27FC236}">
                <a16:creationId xmlns:a16="http://schemas.microsoft.com/office/drawing/2014/main" id="{78EF5993-2606-101D-22EE-A8BD258625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3B5F3BDE-8261-C9B6-87D7-C58D6153D8E1}"/>
              </a:ext>
            </a:extLst>
          </p:cNvPr>
          <p:cNvSpPr txBox="1"/>
          <p:nvPr/>
        </p:nvSpPr>
        <p:spPr>
          <a:xfrm>
            <a:off x="1968923" y="3075700"/>
            <a:ext cx="1474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baumans"/>
              </a:rPr>
              <a:t>CEDVAL instant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7C3CD843-42D8-B439-8C17-A9A72D50D730}"/>
              </a:ext>
            </a:extLst>
          </p:cNvPr>
          <p:cNvSpPr txBox="1"/>
          <p:nvPr/>
        </p:nvSpPr>
        <p:spPr>
          <a:xfrm>
            <a:off x="6118371" y="1990182"/>
            <a:ext cx="1481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baumans"/>
              </a:rPr>
              <a:t>U* calculation</a:t>
            </a:r>
          </a:p>
        </p:txBody>
      </p:sp>
      <p:pic>
        <p:nvPicPr>
          <p:cNvPr id="14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DC529E6-12C7-07E0-586F-E2625080E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83" y="854820"/>
            <a:ext cx="4284278" cy="2269285"/>
          </a:xfrm>
          <a:prstGeom prst="rect">
            <a:avLst/>
          </a:prstGeom>
        </p:spPr>
      </p:pic>
      <p:pic>
        <p:nvPicPr>
          <p:cNvPr id="16" name="Picture 8" descr="A graph showing the number of data&#10;&#10;AI-generated content may be incorrect.">
            <a:extLst>
              <a:ext uri="{FF2B5EF4-FFF2-40B4-BE49-F238E27FC236}">
                <a16:creationId xmlns:a16="http://schemas.microsoft.com/office/drawing/2014/main" id="{605BA4EB-51FE-23A5-1BB8-3A5A3F711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200" y="2346770"/>
            <a:ext cx="3632471" cy="2065860"/>
          </a:xfrm>
          <a:prstGeom prst="rect">
            <a:avLst/>
          </a:prstGeom>
        </p:spPr>
      </p:pic>
      <p:sp>
        <p:nvSpPr>
          <p:cNvPr id="4" name="Google Shape;520;p65">
            <a:extLst>
              <a:ext uri="{FF2B5EF4-FFF2-40B4-BE49-F238E27FC236}">
                <a16:creationId xmlns:a16="http://schemas.microsoft.com/office/drawing/2014/main" id="{EFBF512D-704A-7B28-FF71-CECD2F4880B6}"/>
              </a:ext>
            </a:extLst>
          </p:cNvPr>
          <p:cNvSpPr txBox="1"/>
          <p:nvPr/>
        </p:nvSpPr>
        <p:spPr>
          <a:xfrm>
            <a:off x="4790115" y="117662"/>
            <a:ext cx="4132870" cy="207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Exploration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b="1" err="1">
                <a:latin typeface="Times New Roman"/>
                <a:ea typeface="Times New Roman"/>
                <a:cs typeface="Times New Roman"/>
                <a:sym typeface="Times New Roman"/>
              </a:rPr>
              <a:t>Simulation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Future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Work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" name="Google Shape;523;p65">
            <a:extLst>
              <a:ext uri="{FF2B5EF4-FFF2-40B4-BE49-F238E27FC236}">
                <a16:creationId xmlns:a16="http://schemas.microsoft.com/office/drawing/2014/main" id="{87CDB628-4061-A2CC-9A26-EA87297C12DD}"/>
              </a:ext>
            </a:extLst>
          </p:cNvPr>
          <p:cNvCxnSpPr/>
          <p:nvPr/>
        </p:nvCxnSpPr>
        <p:spPr>
          <a:xfrm>
            <a:off x="5713439" y="325381"/>
            <a:ext cx="24756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8A3B2C1-9A1F-8E86-AE8E-FCEE32F85A69}"/>
              </a:ext>
            </a:extLst>
          </p:cNvPr>
          <p:cNvSpPr txBox="1"/>
          <p:nvPr/>
        </p:nvSpPr>
        <p:spPr>
          <a:xfrm>
            <a:off x="554038" y="3465689"/>
            <a:ext cx="40705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+mn-lt"/>
              </a:rPr>
              <a:t>Replica of </a:t>
            </a:r>
            <a:r>
              <a:rPr lang="en-US" sz="1600" err="1">
                <a:latin typeface="+mn-lt"/>
              </a:rPr>
              <a:t>Cedval</a:t>
            </a:r>
            <a:r>
              <a:rPr lang="en-US" sz="1600">
                <a:latin typeface="+mn-lt"/>
              </a:rPr>
              <a:t> simulation with the mesh generated by the workflow.</a:t>
            </a:r>
          </a:p>
        </p:txBody>
      </p:sp>
    </p:spTree>
    <p:extLst>
      <p:ext uri="{BB962C8B-B14F-4D97-AF65-F5344CB8AC3E}">
        <p14:creationId xmlns:p14="http://schemas.microsoft.com/office/powerpoint/2010/main" val="399305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F0A1B-1BF5-549D-47D6-1D4C045E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034573-8F9E-EB85-B07A-1B25147F4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0B04795-0DE7-4ECC-8A35-5B225D21AD06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3" name="Google Shape;518;p65">
            <a:extLst>
              <a:ext uri="{FF2B5EF4-FFF2-40B4-BE49-F238E27FC236}">
                <a16:creationId xmlns:a16="http://schemas.microsoft.com/office/drawing/2014/main" id="{186DF176-F6ED-AEF7-5B46-EB1007F98F49}"/>
              </a:ext>
            </a:extLst>
          </p:cNvPr>
          <p:cNvSpPr txBox="1"/>
          <p:nvPr/>
        </p:nvSpPr>
        <p:spPr>
          <a:xfrm>
            <a:off x="484296" y="289021"/>
            <a:ext cx="6431195" cy="57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lang="es-MX" sz="1800" b="1" err="1">
                <a:solidFill>
                  <a:srgbClr val="0033A0"/>
                </a:solidFill>
                <a:latin typeface="Times New Roman"/>
                <a:cs typeface="Times New Roman"/>
              </a:rPr>
              <a:t>Faster</a:t>
            </a:r>
            <a:r>
              <a:rPr lang="es-MX" sz="1800" b="1">
                <a:solidFill>
                  <a:srgbClr val="0033A0"/>
                </a:solidFill>
                <a:latin typeface="Times New Roman"/>
                <a:cs typeface="Times New Roman"/>
              </a:rPr>
              <a:t>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cs typeface="Times New Roman"/>
              </a:rPr>
              <a:t>convergence</a:t>
            </a:r>
            <a:r>
              <a:rPr lang="es-MX" sz="1800" b="1">
                <a:solidFill>
                  <a:srgbClr val="0033A0"/>
                </a:solidFill>
                <a:latin typeface="Times New Roman"/>
                <a:cs typeface="Times New Roman"/>
              </a:rPr>
              <a:t>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cs typeface="Times New Roman"/>
              </a:rPr>
              <a:t>of</a:t>
            </a:r>
            <a:r>
              <a:rPr lang="es-MX" sz="1800" b="1">
                <a:solidFill>
                  <a:srgbClr val="0033A0"/>
                </a:solidFill>
                <a:latin typeface="Times New Roman"/>
                <a:cs typeface="Times New Roman"/>
              </a:rPr>
              <a:t> U*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cs typeface="Times New Roman"/>
              </a:rPr>
              <a:t>by</a:t>
            </a:r>
            <a:r>
              <a:rPr lang="es-MX" sz="1800" b="1">
                <a:solidFill>
                  <a:srgbClr val="0033A0"/>
                </a:solidFill>
                <a:latin typeface="Times New Roman"/>
                <a:cs typeface="Times New Roman"/>
              </a:rPr>
              <a:t>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cs typeface="Times New Roman"/>
              </a:rPr>
              <a:t>interpolating</a:t>
            </a:r>
            <a:r>
              <a:rPr lang="es-MX" sz="1800" b="1">
                <a:solidFill>
                  <a:srgbClr val="0033A0"/>
                </a:solidFill>
                <a:latin typeface="Times New Roman"/>
                <a:cs typeface="Times New Roman"/>
              </a:rPr>
              <a:t> P2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cs typeface="Times New Roman"/>
              </a:rPr>
              <a:t>to</a:t>
            </a:r>
            <a:r>
              <a:rPr lang="es-MX" sz="1800" b="1">
                <a:solidFill>
                  <a:srgbClr val="0033A0"/>
                </a:solidFill>
                <a:latin typeface="Times New Roman"/>
                <a:cs typeface="Times New Roman"/>
              </a:rPr>
              <a:t> P4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" name="Google Shape;519;p65">
            <a:extLst>
              <a:ext uri="{FF2B5EF4-FFF2-40B4-BE49-F238E27FC236}">
                <a16:creationId xmlns:a16="http://schemas.microsoft.com/office/drawing/2014/main" id="{85A38D04-E17D-C605-764B-6C6C97E0AD6E}"/>
              </a:ext>
            </a:extLst>
          </p:cNvPr>
          <p:cNvCxnSpPr/>
          <p:nvPr/>
        </p:nvCxnSpPr>
        <p:spPr>
          <a:xfrm>
            <a:off x="554039" y="622777"/>
            <a:ext cx="24027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" name="Google Shape;520;p65">
            <a:extLst>
              <a:ext uri="{FF2B5EF4-FFF2-40B4-BE49-F238E27FC236}">
                <a16:creationId xmlns:a16="http://schemas.microsoft.com/office/drawing/2014/main" id="{4C25D60A-F8B1-7823-6C0C-6E150AB90A6C}"/>
              </a:ext>
            </a:extLst>
          </p:cNvPr>
          <p:cNvSpPr txBox="1"/>
          <p:nvPr/>
        </p:nvSpPr>
        <p:spPr>
          <a:xfrm>
            <a:off x="4790115" y="117662"/>
            <a:ext cx="4132870" cy="207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Exploration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b="1" err="1">
                <a:latin typeface="Times New Roman"/>
                <a:ea typeface="Times New Roman"/>
                <a:cs typeface="Times New Roman"/>
                <a:sym typeface="Times New Roman"/>
              </a:rPr>
              <a:t>Simulation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Future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Work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" name="Google Shape;523;p65">
            <a:extLst>
              <a:ext uri="{FF2B5EF4-FFF2-40B4-BE49-F238E27FC236}">
                <a16:creationId xmlns:a16="http://schemas.microsoft.com/office/drawing/2014/main" id="{45B3C764-DCD9-1AB7-E4D6-D3A4FF66B084}"/>
              </a:ext>
            </a:extLst>
          </p:cNvPr>
          <p:cNvCxnSpPr/>
          <p:nvPr/>
        </p:nvCxnSpPr>
        <p:spPr>
          <a:xfrm>
            <a:off x="5713439" y="325381"/>
            <a:ext cx="24756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Imagen 1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10F69D09-6377-C987-9666-D38851C11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532" y="1977089"/>
            <a:ext cx="4661429" cy="2790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D8A2C0-A7DC-EAD6-3FD5-83D7EFCF2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39" y="787049"/>
            <a:ext cx="3470450" cy="20742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8BA627-F054-600C-3734-F71A831F8559}"/>
              </a:ext>
            </a:extLst>
          </p:cNvPr>
          <p:cNvSpPr txBox="1"/>
          <p:nvPr/>
        </p:nvSpPr>
        <p:spPr>
          <a:xfrm>
            <a:off x="779815" y="2764003"/>
            <a:ext cx="31487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baumans"/>
              </a:rPr>
              <a:t>Order 2 (40 million nodes) simulation for 3000 TU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3C868-2B98-9D66-20C7-46D6AA4495FC}"/>
              </a:ext>
            </a:extLst>
          </p:cNvPr>
          <p:cNvSpPr txBox="1"/>
          <p:nvPr/>
        </p:nvSpPr>
        <p:spPr>
          <a:xfrm>
            <a:off x="4572000" y="1453868"/>
            <a:ext cx="3821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baumans"/>
              </a:rPr>
              <a:t>P2 (40M) interpolated to P4 (250M) vs starting from P4 (250M nodes) </a:t>
            </a:r>
          </a:p>
        </p:txBody>
      </p:sp>
    </p:spTree>
    <p:extLst>
      <p:ext uri="{BB962C8B-B14F-4D97-AF65-F5344CB8AC3E}">
        <p14:creationId xmlns:p14="http://schemas.microsoft.com/office/powerpoint/2010/main" val="144468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>
          <a:extLst>
            <a:ext uri="{FF2B5EF4-FFF2-40B4-BE49-F238E27FC236}">
              <a16:creationId xmlns:a16="http://schemas.microsoft.com/office/drawing/2014/main" id="{F01B39F4-B043-950A-D537-500D866AB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C418A4C-96D4-148E-99C5-ADFD2B5D6FFA}"/>
              </a:ext>
            </a:extLst>
          </p:cNvPr>
          <p:cNvSpPr/>
          <p:nvPr/>
        </p:nvSpPr>
        <p:spPr>
          <a:xfrm>
            <a:off x="1944084" y="4194369"/>
            <a:ext cx="1361221" cy="2233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60D7E5B5-B230-E546-8566-82689BB525B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-2190355" y="2190356"/>
            <a:ext cx="5143500" cy="762788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BCCA7A5-8E66-9811-8BED-701F5C471216}"/>
              </a:ext>
            </a:extLst>
          </p:cNvPr>
          <p:cNvSpPr/>
          <p:nvPr/>
        </p:nvSpPr>
        <p:spPr>
          <a:xfrm>
            <a:off x="368198" y="-12702"/>
            <a:ext cx="2401861" cy="5156202"/>
          </a:xfrm>
          <a:custGeom>
            <a:avLst/>
            <a:gdLst>
              <a:gd name="connsiteX0" fmla="*/ 0 w 514350"/>
              <a:gd name="connsiteY0" fmla="*/ 139700 h 139700"/>
              <a:gd name="connsiteX1" fmla="*/ 514350 w 514350"/>
              <a:gd name="connsiteY1" fmla="*/ 0 h 13970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41913"/>
              <a:gd name="connsiteY0" fmla="*/ 142192 h 142192"/>
              <a:gd name="connsiteX1" fmla="*/ 441913 w 441913"/>
              <a:gd name="connsiteY1" fmla="*/ 0 h 142192"/>
              <a:gd name="connsiteX0" fmla="*/ 0 w 441913"/>
              <a:gd name="connsiteY0" fmla="*/ 142192 h 142192"/>
              <a:gd name="connsiteX1" fmla="*/ 441913 w 441913"/>
              <a:gd name="connsiteY1" fmla="*/ 0 h 14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1913" h="142192">
                <a:moveTo>
                  <a:pt x="0" y="142192"/>
                </a:moveTo>
                <a:cubicBezTo>
                  <a:pt x="208491" y="132138"/>
                  <a:pt x="436222" y="91909"/>
                  <a:pt x="441913" y="0"/>
                </a:cubicBezTo>
              </a:path>
            </a:pathLst>
          </a:cu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Google Shape;483;p63">
            <a:extLst>
              <a:ext uri="{FF2B5EF4-FFF2-40B4-BE49-F238E27FC236}">
                <a16:creationId xmlns:a16="http://schemas.microsoft.com/office/drawing/2014/main" id="{B016DD89-2090-7C52-741C-D6F8F2AE29A7}"/>
              </a:ext>
            </a:extLst>
          </p:cNvPr>
          <p:cNvSpPr/>
          <p:nvPr/>
        </p:nvSpPr>
        <p:spPr>
          <a:xfrm>
            <a:off x="2335416" y="310245"/>
            <a:ext cx="769500" cy="7695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84" name="Google Shape;484;p63">
            <a:extLst>
              <a:ext uri="{FF2B5EF4-FFF2-40B4-BE49-F238E27FC236}">
                <a16:creationId xmlns:a16="http://schemas.microsoft.com/office/drawing/2014/main" id="{76E304ED-9A02-5DAC-FDB4-553B90C38375}"/>
              </a:ext>
            </a:extLst>
          </p:cNvPr>
          <p:cNvSpPr/>
          <p:nvPr/>
        </p:nvSpPr>
        <p:spPr>
          <a:xfrm>
            <a:off x="2238966" y="1216049"/>
            <a:ext cx="769500" cy="76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85" name="Google Shape;485;p63">
            <a:extLst>
              <a:ext uri="{FF2B5EF4-FFF2-40B4-BE49-F238E27FC236}">
                <a16:creationId xmlns:a16="http://schemas.microsoft.com/office/drawing/2014/main" id="{4F26A5BC-D6F5-AC28-23FB-1FA50A5C4863}"/>
              </a:ext>
            </a:extLst>
          </p:cNvPr>
          <p:cNvSpPr/>
          <p:nvPr/>
        </p:nvSpPr>
        <p:spPr>
          <a:xfrm>
            <a:off x="1944564" y="2218928"/>
            <a:ext cx="769500" cy="769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86" name="Google Shape;486;p63">
            <a:extLst>
              <a:ext uri="{FF2B5EF4-FFF2-40B4-BE49-F238E27FC236}">
                <a16:creationId xmlns:a16="http://schemas.microsoft.com/office/drawing/2014/main" id="{7A14A791-20F7-E933-CF79-F320D4FEBCE6}"/>
              </a:ext>
            </a:extLst>
          </p:cNvPr>
          <p:cNvSpPr txBox="1"/>
          <p:nvPr/>
        </p:nvSpPr>
        <p:spPr>
          <a:xfrm>
            <a:off x="6962057" y="102337"/>
            <a:ext cx="1553293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3000"/>
              <a:buFont typeface="Open Sans"/>
              <a:buNone/>
            </a:pPr>
            <a:r>
              <a:rPr lang="en-US" sz="3000" b="1" cap="small">
                <a:solidFill>
                  <a:srgbClr val="44546A"/>
                </a:solidFill>
                <a:latin typeface="Open Sans"/>
                <a:ea typeface="Open Sans"/>
                <a:cs typeface="Open Sans"/>
                <a:sym typeface="Open Sans"/>
              </a:rPr>
              <a:t>outline</a:t>
            </a:r>
            <a:endParaRPr lang="en-US" sz="1100"/>
          </a:p>
        </p:txBody>
      </p:sp>
      <p:sp>
        <p:nvSpPr>
          <p:cNvPr id="487" name="Google Shape;487;p63">
            <a:extLst>
              <a:ext uri="{FF2B5EF4-FFF2-40B4-BE49-F238E27FC236}">
                <a16:creationId xmlns:a16="http://schemas.microsoft.com/office/drawing/2014/main" id="{0683C874-3268-A30F-7FDB-64C9228030BD}"/>
              </a:ext>
            </a:extLst>
          </p:cNvPr>
          <p:cNvSpPr txBox="1"/>
          <p:nvPr/>
        </p:nvSpPr>
        <p:spPr>
          <a:xfrm>
            <a:off x="3201366" y="319920"/>
            <a:ext cx="1889923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MX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BACKGROUND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endParaRPr lang="es-419" sz="120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br>
              <a:rPr lang="es-419" sz="12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s-419" sz="1200" b="1" i="0" u="none" strike="noStrike" cap="none">
                <a:solidFill>
                  <a:srgbClr val="70AD47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9" name="Google Shape;489;p63">
            <a:extLst>
              <a:ext uri="{FF2B5EF4-FFF2-40B4-BE49-F238E27FC236}">
                <a16:creationId xmlns:a16="http://schemas.microsoft.com/office/drawing/2014/main" id="{E2E3A003-351C-B5FA-83DF-FC71781F2077}"/>
              </a:ext>
            </a:extLst>
          </p:cNvPr>
          <p:cNvSpPr txBox="1"/>
          <p:nvPr/>
        </p:nvSpPr>
        <p:spPr>
          <a:xfrm>
            <a:off x="2772661" y="2200130"/>
            <a:ext cx="1412675" cy="253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1200" b="1" i="0" u="none" strike="noStrike" cap="non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63">
            <a:extLst>
              <a:ext uri="{FF2B5EF4-FFF2-40B4-BE49-F238E27FC236}">
                <a16:creationId xmlns:a16="http://schemas.microsoft.com/office/drawing/2014/main" id="{BA9C1157-F69B-B56A-1B0A-634AC71CDFBA}"/>
              </a:ext>
            </a:extLst>
          </p:cNvPr>
          <p:cNvSpPr txBox="1"/>
          <p:nvPr/>
        </p:nvSpPr>
        <p:spPr>
          <a:xfrm>
            <a:off x="3146375" y="1223539"/>
            <a:ext cx="1690369" cy="253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EXPLORATION</a:t>
            </a:r>
            <a:endParaRPr sz="1200" b="0" i="0" u="none" strike="noStrike" cap="none">
              <a:solidFill>
                <a:srgbClr val="0000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4" name="Google Shape;494;p63">
            <a:extLst>
              <a:ext uri="{FF2B5EF4-FFF2-40B4-BE49-F238E27FC236}">
                <a16:creationId xmlns:a16="http://schemas.microsoft.com/office/drawing/2014/main" id="{B477BE7E-D283-81D5-D8D4-298EE845C405}"/>
              </a:ext>
            </a:extLst>
          </p:cNvPr>
          <p:cNvSpPr/>
          <p:nvPr/>
        </p:nvSpPr>
        <p:spPr>
          <a:xfrm>
            <a:off x="2431866" y="406695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5" name="Google Shape;495;p63">
            <a:extLst>
              <a:ext uri="{FF2B5EF4-FFF2-40B4-BE49-F238E27FC236}">
                <a16:creationId xmlns:a16="http://schemas.microsoft.com/office/drawing/2014/main" id="{B0A7B39B-83B0-39A4-3554-25C6017557FB}"/>
              </a:ext>
            </a:extLst>
          </p:cNvPr>
          <p:cNvSpPr/>
          <p:nvPr/>
        </p:nvSpPr>
        <p:spPr>
          <a:xfrm>
            <a:off x="2335418" y="1315677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6" name="Google Shape;496;p63">
            <a:extLst>
              <a:ext uri="{FF2B5EF4-FFF2-40B4-BE49-F238E27FC236}">
                <a16:creationId xmlns:a16="http://schemas.microsoft.com/office/drawing/2014/main" id="{71E47586-6F0C-2DDD-E3F0-73113663988D}"/>
              </a:ext>
            </a:extLst>
          </p:cNvPr>
          <p:cNvSpPr/>
          <p:nvPr/>
        </p:nvSpPr>
        <p:spPr>
          <a:xfrm>
            <a:off x="2031713" y="2314664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8" name="Google Shape;498;p63">
            <a:extLst>
              <a:ext uri="{FF2B5EF4-FFF2-40B4-BE49-F238E27FC236}">
                <a16:creationId xmlns:a16="http://schemas.microsoft.com/office/drawing/2014/main" id="{7410E9C9-8CBD-0DBD-E5F9-3E3F8566C31B}"/>
              </a:ext>
            </a:extLst>
          </p:cNvPr>
          <p:cNvSpPr/>
          <p:nvPr/>
        </p:nvSpPr>
        <p:spPr>
          <a:xfrm>
            <a:off x="2427975" y="1409124"/>
            <a:ext cx="391554" cy="39155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0700" tIns="10700" rIns="10700" bIns="10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ill Sans"/>
              <a:buNone/>
            </a:pPr>
            <a:endParaRPr sz="8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499" name="Google Shape;499;p63">
            <a:extLst>
              <a:ext uri="{FF2B5EF4-FFF2-40B4-BE49-F238E27FC236}">
                <a16:creationId xmlns:a16="http://schemas.microsoft.com/office/drawing/2014/main" id="{DE923D5D-A081-BA8D-8683-52CB0F289C06}"/>
              </a:ext>
            </a:extLst>
          </p:cNvPr>
          <p:cNvSpPr/>
          <p:nvPr/>
        </p:nvSpPr>
        <p:spPr>
          <a:xfrm>
            <a:off x="2145900" y="2447572"/>
            <a:ext cx="348300" cy="28495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chemeClr val="tx1"/>
          </a:solidFill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spcFirstLastPara="1" wrap="square" lIns="10700" tIns="10700" rIns="10700" bIns="10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ill Sans"/>
              <a:buNone/>
            </a:pPr>
            <a:endParaRPr sz="8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500" name="Google Shape;500;p63">
            <a:extLst>
              <a:ext uri="{FF2B5EF4-FFF2-40B4-BE49-F238E27FC236}">
                <a16:creationId xmlns:a16="http://schemas.microsoft.com/office/drawing/2014/main" id="{F7F37CCE-916D-C8F0-EA36-5F0CB7A4D520}"/>
              </a:ext>
            </a:extLst>
          </p:cNvPr>
          <p:cNvSpPr/>
          <p:nvPr/>
        </p:nvSpPr>
        <p:spPr>
          <a:xfrm>
            <a:off x="1565916" y="3114311"/>
            <a:ext cx="769500" cy="76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02" name="Google Shape;502;p63">
            <a:extLst>
              <a:ext uri="{FF2B5EF4-FFF2-40B4-BE49-F238E27FC236}">
                <a16:creationId xmlns:a16="http://schemas.microsoft.com/office/drawing/2014/main" id="{80BA7D47-BDA3-C844-D453-925D40CDE9CE}"/>
              </a:ext>
            </a:extLst>
          </p:cNvPr>
          <p:cNvSpPr txBox="1"/>
          <p:nvPr/>
        </p:nvSpPr>
        <p:spPr>
          <a:xfrm>
            <a:off x="2427975" y="3165873"/>
            <a:ext cx="1495500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SIMULATION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Google Shape;500;p63">
            <a:extLst>
              <a:ext uri="{FF2B5EF4-FFF2-40B4-BE49-F238E27FC236}">
                <a16:creationId xmlns:a16="http://schemas.microsoft.com/office/drawing/2014/main" id="{E9C53FC6-371F-B770-EE55-C636EBABDEF9}"/>
              </a:ext>
            </a:extLst>
          </p:cNvPr>
          <p:cNvSpPr/>
          <p:nvPr/>
        </p:nvSpPr>
        <p:spPr>
          <a:xfrm>
            <a:off x="1081293" y="3997763"/>
            <a:ext cx="769500" cy="76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1B3B841-57A7-A4FF-DC00-8891473B4E13}"/>
              </a:ext>
            </a:extLst>
          </p:cNvPr>
          <p:cNvCxnSpPr>
            <a:cxnSpLocks/>
          </p:cNvCxnSpPr>
          <p:nvPr/>
        </p:nvCxnSpPr>
        <p:spPr>
          <a:xfrm>
            <a:off x="611188" y="708147"/>
            <a:ext cx="16277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A88EF9-8602-9DD1-E3F9-30FB87ACE2FC}"/>
              </a:ext>
            </a:extLst>
          </p:cNvPr>
          <p:cNvCxnSpPr>
            <a:cxnSpLocks/>
          </p:cNvCxnSpPr>
          <p:nvPr/>
        </p:nvCxnSpPr>
        <p:spPr>
          <a:xfrm>
            <a:off x="611188" y="1541758"/>
            <a:ext cx="14898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A49373B-0E59-DA29-F424-4E28A49E0520}"/>
              </a:ext>
            </a:extLst>
          </p:cNvPr>
          <p:cNvCxnSpPr>
            <a:cxnSpLocks/>
          </p:cNvCxnSpPr>
          <p:nvPr/>
        </p:nvCxnSpPr>
        <p:spPr>
          <a:xfrm>
            <a:off x="604678" y="2575831"/>
            <a:ext cx="1181867" cy="4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F54007C-9B35-3217-2689-D622AA121F26}"/>
              </a:ext>
            </a:extLst>
          </p:cNvPr>
          <p:cNvCxnSpPr>
            <a:cxnSpLocks/>
          </p:cNvCxnSpPr>
          <p:nvPr/>
        </p:nvCxnSpPr>
        <p:spPr>
          <a:xfrm>
            <a:off x="611188" y="3499061"/>
            <a:ext cx="7867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6705684-B678-BCBE-89AC-9147099327D8}"/>
              </a:ext>
            </a:extLst>
          </p:cNvPr>
          <p:cNvCxnSpPr>
            <a:cxnSpLocks/>
          </p:cNvCxnSpPr>
          <p:nvPr/>
        </p:nvCxnSpPr>
        <p:spPr>
          <a:xfrm>
            <a:off x="611188" y="4379460"/>
            <a:ext cx="370388" cy="0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Google Shape;494;p63">
            <a:extLst>
              <a:ext uri="{FF2B5EF4-FFF2-40B4-BE49-F238E27FC236}">
                <a16:creationId xmlns:a16="http://schemas.microsoft.com/office/drawing/2014/main" id="{349C551F-A45E-3179-3E54-1EFF2E580B7F}"/>
              </a:ext>
            </a:extLst>
          </p:cNvPr>
          <p:cNvSpPr/>
          <p:nvPr/>
        </p:nvSpPr>
        <p:spPr>
          <a:xfrm>
            <a:off x="1662366" y="3207479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4" name="Google Shape;494;p63">
            <a:extLst>
              <a:ext uri="{FF2B5EF4-FFF2-40B4-BE49-F238E27FC236}">
                <a16:creationId xmlns:a16="http://schemas.microsoft.com/office/drawing/2014/main" id="{C1921F24-268D-C2BA-25CA-2C646B8BFF12}"/>
              </a:ext>
            </a:extLst>
          </p:cNvPr>
          <p:cNvSpPr/>
          <p:nvPr/>
        </p:nvSpPr>
        <p:spPr>
          <a:xfrm>
            <a:off x="1177743" y="4095146"/>
            <a:ext cx="576600" cy="576600"/>
          </a:xfrm>
          <a:prstGeom prst="ellips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" name="Google Shape;492;p63">
            <a:extLst>
              <a:ext uri="{FF2B5EF4-FFF2-40B4-BE49-F238E27FC236}">
                <a16:creationId xmlns:a16="http://schemas.microsoft.com/office/drawing/2014/main" id="{27C42CB7-FA01-76DE-F857-AA2A977D7ABE}"/>
              </a:ext>
            </a:extLst>
          </p:cNvPr>
          <p:cNvSpPr txBox="1"/>
          <p:nvPr/>
        </p:nvSpPr>
        <p:spPr>
          <a:xfrm>
            <a:off x="1971586" y="4181384"/>
            <a:ext cx="1690369" cy="253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Times New Roman"/>
              <a:buNone/>
            </a:pPr>
            <a:r>
              <a:rPr lang="es-419" sz="1200" b="1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FUTURE WORK</a:t>
            </a:r>
            <a:endParaRPr sz="1200" b="0" i="0" u="none" strike="noStrike" cap="none">
              <a:solidFill>
                <a:srgbClr val="0000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39" name="Graphic 38" descr="City outline">
            <a:extLst>
              <a:ext uri="{FF2B5EF4-FFF2-40B4-BE49-F238E27FC236}">
                <a16:creationId xmlns:a16="http://schemas.microsoft.com/office/drawing/2014/main" id="{FB713B68-36C7-6411-6C73-1644190317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61673" y="411033"/>
            <a:ext cx="514067" cy="514067"/>
          </a:xfrm>
          <a:prstGeom prst="rect">
            <a:avLst/>
          </a:prstGeom>
        </p:spPr>
      </p:pic>
      <p:pic>
        <p:nvPicPr>
          <p:cNvPr id="41" name="Graphic 40" descr="Future with solid fill">
            <a:extLst>
              <a:ext uri="{FF2B5EF4-FFF2-40B4-BE49-F238E27FC236}">
                <a16:creationId xmlns:a16="http://schemas.microsoft.com/office/drawing/2014/main" id="{EE2365EB-F82F-49B5-CF17-AB46B8B6CE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2816" y="4146233"/>
            <a:ext cx="466453" cy="466453"/>
          </a:xfrm>
          <a:prstGeom prst="rect">
            <a:avLst/>
          </a:prstGeom>
        </p:spPr>
      </p:pic>
      <p:pic>
        <p:nvPicPr>
          <p:cNvPr id="43" name="Graphic 42" descr="Windy with solid fill">
            <a:extLst>
              <a:ext uri="{FF2B5EF4-FFF2-40B4-BE49-F238E27FC236}">
                <a16:creationId xmlns:a16="http://schemas.microsoft.com/office/drawing/2014/main" id="{9BB7A10B-E12B-D4D8-15E9-6DC4CB2500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36326" y="3187540"/>
            <a:ext cx="616477" cy="616477"/>
          </a:xfrm>
          <a:prstGeom prst="rect">
            <a:avLst/>
          </a:prstGeom>
        </p:spPr>
      </p:pic>
      <p:sp>
        <p:nvSpPr>
          <p:cNvPr id="14" name="Google Shape;490;p63">
            <a:extLst>
              <a:ext uri="{FF2B5EF4-FFF2-40B4-BE49-F238E27FC236}">
                <a16:creationId xmlns:a16="http://schemas.microsoft.com/office/drawing/2014/main" id="{27095850-D626-28C3-4003-615D09649851}"/>
              </a:ext>
            </a:extLst>
          </p:cNvPr>
          <p:cNvSpPr txBox="1"/>
          <p:nvPr/>
        </p:nvSpPr>
        <p:spPr>
          <a:xfrm>
            <a:off x="2744013" y="2497382"/>
            <a:ext cx="5652348" cy="99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s-419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City4CFD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s-419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ANSA scripting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493;p63">
            <a:extLst>
              <a:ext uri="{FF2B5EF4-FFF2-40B4-BE49-F238E27FC236}">
                <a16:creationId xmlns:a16="http://schemas.microsoft.com/office/drawing/2014/main" id="{90035371-C473-30EC-6A78-00C8B842C4EC}"/>
              </a:ext>
            </a:extLst>
          </p:cNvPr>
          <p:cNvSpPr txBox="1"/>
          <p:nvPr/>
        </p:nvSpPr>
        <p:spPr>
          <a:xfrm>
            <a:off x="3146373" y="1431300"/>
            <a:ext cx="4426819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City4CFD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Open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source</a:t>
            </a: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datasets</a:t>
            </a:r>
            <a:endParaRPr kumimoji="0" lang="es-MX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6" name="Google Shape;493;p63">
            <a:extLst>
              <a:ext uri="{FF2B5EF4-FFF2-40B4-BE49-F238E27FC236}">
                <a16:creationId xmlns:a16="http://schemas.microsoft.com/office/drawing/2014/main" id="{C81BB94C-A34D-2C25-903B-4D4054267F2C}"/>
              </a:ext>
            </a:extLst>
          </p:cNvPr>
          <p:cNvSpPr txBox="1"/>
          <p:nvPr/>
        </p:nvSpPr>
        <p:spPr>
          <a:xfrm>
            <a:off x="1950510" y="4414753"/>
            <a:ext cx="4426819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FLIC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" name="Google Shape;490;p63">
            <a:extLst>
              <a:ext uri="{FF2B5EF4-FFF2-40B4-BE49-F238E27FC236}">
                <a16:creationId xmlns:a16="http://schemas.microsoft.com/office/drawing/2014/main" id="{76204344-A879-73FA-EC4C-5D725EED4838}"/>
              </a:ext>
            </a:extLst>
          </p:cNvPr>
          <p:cNvSpPr txBox="1"/>
          <p:nvPr/>
        </p:nvSpPr>
        <p:spPr>
          <a:xfrm>
            <a:off x="2488138" y="3365888"/>
            <a:ext cx="2073950" cy="117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CEDVAL case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Monterrey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endParaRPr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Terrassa case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8" name="Google Shape;493;p63">
            <a:extLst>
              <a:ext uri="{FF2B5EF4-FFF2-40B4-BE49-F238E27FC236}">
                <a16:creationId xmlns:a16="http://schemas.microsoft.com/office/drawing/2014/main" id="{81D6B9D2-004B-7611-1E99-4634F9314EB2}"/>
              </a:ext>
            </a:extLst>
          </p:cNvPr>
          <p:cNvSpPr txBox="1"/>
          <p:nvPr/>
        </p:nvSpPr>
        <p:spPr>
          <a:xfrm>
            <a:off x="3201366" y="547285"/>
            <a:ext cx="4426819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Expansion</a:t>
            </a: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</a:t>
            </a:r>
            <a:r>
              <a:rPr kumimoji="0" lang="es-MX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Digital </a:t>
            </a:r>
            <a:r>
              <a:rPr kumimoji="0" lang="es-MX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Twins</a:t>
            </a:r>
            <a:endParaRPr kumimoji="0" lang="es-MX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EF0F6D-052C-1C53-EC63-E9EE97598A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419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1425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98ADF-7A7F-EBB9-72F0-AC1154321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 descr="A DIGITAL TWIN CITY… What is it? Who's it for?">
            <a:extLst>
              <a:ext uri="{FF2B5EF4-FFF2-40B4-BE49-F238E27FC236}">
                <a16:creationId xmlns:a16="http://schemas.microsoft.com/office/drawing/2014/main" id="{113EBDDA-E482-F8DC-EE2B-C9D203C8A5E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4438" y="1365250"/>
            <a:ext cx="3770313" cy="2286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475FE5-B74A-2A59-3ABA-C226259C3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0B04795-0DE7-4ECC-8A35-5B225D21AD06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3" name="Google Shape;520;p65">
            <a:extLst>
              <a:ext uri="{FF2B5EF4-FFF2-40B4-BE49-F238E27FC236}">
                <a16:creationId xmlns:a16="http://schemas.microsoft.com/office/drawing/2014/main" id="{D6730F40-7377-2DA2-7BE4-784CC106EC49}"/>
              </a:ext>
            </a:extLst>
          </p:cNvPr>
          <p:cNvSpPr txBox="1"/>
          <p:nvPr/>
        </p:nvSpPr>
        <p:spPr>
          <a:xfrm>
            <a:off x="4790115" y="117662"/>
            <a:ext cx="4132870" cy="207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Exploration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 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  </a:t>
            </a:r>
            <a:r>
              <a:rPr lang="es-419" sz="900" err="1">
                <a:latin typeface="Times New Roman"/>
                <a:ea typeface="Times New Roman"/>
                <a:cs typeface="Times New Roman"/>
                <a:sym typeface="Times New Roman"/>
              </a:rPr>
              <a:t>Simulation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s-419" sz="9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s-419" sz="900" b="1">
                <a:latin typeface="Times New Roman"/>
                <a:ea typeface="Times New Roman"/>
                <a:cs typeface="Times New Roman"/>
                <a:sym typeface="Times New Roman"/>
              </a:rPr>
              <a:t>Future </a:t>
            </a:r>
            <a:r>
              <a:rPr lang="es-419" sz="900" b="1" err="1">
                <a:latin typeface="Times New Roman"/>
                <a:ea typeface="Times New Roman"/>
                <a:cs typeface="Times New Roman"/>
                <a:sym typeface="Times New Roman"/>
              </a:rPr>
              <a:t>Work</a:t>
            </a:r>
            <a:endParaRPr sz="9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" name="Google Shape;523;p65">
            <a:extLst>
              <a:ext uri="{FF2B5EF4-FFF2-40B4-BE49-F238E27FC236}">
                <a16:creationId xmlns:a16="http://schemas.microsoft.com/office/drawing/2014/main" id="{E474A8E0-DDE3-8B04-0C09-FA8929372129}"/>
              </a:ext>
            </a:extLst>
          </p:cNvPr>
          <p:cNvCxnSpPr/>
          <p:nvPr/>
        </p:nvCxnSpPr>
        <p:spPr>
          <a:xfrm>
            <a:off x="5713439" y="325381"/>
            <a:ext cx="24756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518;p65">
            <a:extLst>
              <a:ext uri="{FF2B5EF4-FFF2-40B4-BE49-F238E27FC236}">
                <a16:creationId xmlns:a16="http://schemas.microsoft.com/office/drawing/2014/main" id="{116423AE-7948-C262-807F-BC8144BFE96E}"/>
              </a:ext>
            </a:extLst>
          </p:cNvPr>
          <p:cNvSpPr txBox="1"/>
          <p:nvPr/>
        </p:nvSpPr>
        <p:spPr>
          <a:xfrm>
            <a:off x="500171" y="289021"/>
            <a:ext cx="6455007" cy="57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lang="es-MX" sz="1800" b="1">
                <a:solidFill>
                  <a:srgbClr val="0033A0"/>
                </a:solidFill>
                <a:latin typeface="Times New Roman"/>
                <a:cs typeface="Times New Roman"/>
              </a:rPr>
              <a:t>FLIC —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cs typeface="Times New Roman"/>
              </a:rPr>
              <a:t>Fast</a:t>
            </a:r>
            <a:r>
              <a:rPr lang="es-MX" sz="1800" b="1">
                <a:solidFill>
                  <a:srgbClr val="0033A0"/>
                </a:solidFill>
                <a:latin typeface="Times New Roman"/>
                <a:cs typeface="Times New Roman"/>
              </a:rPr>
              <a:t>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cs typeface="Times New Roman"/>
              </a:rPr>
              <a:t>modeLing</a:t>
            </a:r>
            <a:r>
              <a:rPr lang="es-MX" sz="1800" b="1">
                <a:solidFill>
                  <a:srgbClr val="0033A0"/>
                </a:solidFill>
                <a:latin typeface="Times New Roman"/>
                <a:cs typeface="Times New Roman"/>
              </a:rPr>
              <a:t> 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cs typeface="Times New Roman"/>
              </a:rPr>
              <a:t>for</a:t>
            </a:r>
            <a:r>
              <a:rPr lang="es-MX" sz="1800" b="1">
                <a:solidFill>
                  <a:srgbClr val="0033A0"/>
                </a:solidFill>
                <a:latin typeface="Times New Roman"/>
                <a:cs typeface="Times New Roman"/>
              </a:rPr>
              <a:t>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cs typeface="Times New Roman"/>
              </a:rPr>
              <a:t>Integrated</a:t>
            </a:r>
            <a:r>
              <a:rPr lang="es-MX" sz="1800" b="1">
                <a:solidFill>
                  <a:srgbClr val="0033A0"/>
                </a:solidFill>
                <a:latin typeface="Times New Roman"/>
                <a:cs typeface="Times New Roman"/>
              </a:rPr>
              <a:t> </a:t>
            </a:r>
            <a:r>
              <a:rPr lang="es-MX" sz="1800" b="1" err="1">
                <a:solidFill>
                  <a:srgbClr val="0033A0"/>
                </a:solidFill>
                <a:latin typeface="Times New Roman"/>
                <a:cs typeface="Times New Roman"/>
              </a:rPr>
              <a:t>Climate</a:t>
            </a:r>
            <a:endParaRPr lang="es-MX" sz="1800" b="1">
              <a:solidFill>
                <a:srgbClr val="0033A0"/>
              </a:solidFill>
              <a:latin typeface="Times New Roman"/>
              <a:cs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4AE5E27-A8EE-BE8B-3388-B127AD5EE2B8}"/>
              </a:ext>
            </a:extLst>
          </p:cNvPr>
          <p:cNvSpPr/>
          <p:nvPr/>
        </p:nvSpPr>
        <p:spPr>
          <a:xfrm>
            <a:off x="738186" y="1650999"/>
            <a:ext cx="1373188" cy="47625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err="1">
                <a:latin typeface="Impact"/>
                <a:ea typeface="Calibri"/>
                <a:cs typeface="Calibri"/>
              </a:rPr>
              <a:t>Pre-processing</a:t>
            </a:r>
            <a:endParaRPr lang="es-ES" err="1">
              <a:latin typeface="Impact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4087667-9624-BCE2-4148-1CCB258F733B}"/>
              </a:ext>
            </a:extLst>
          </p:cNvPr>
          <p:cNvSpPr txBox="1"/>
          <p:nvPr/>
        </p:nvSpPr>
        <p:spPr>
          <a:xfrm>
            <a:off x="633256" y="2308845"/>
            <a:ext cx="173037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Char char="•"/>
            </a:pPr>
            <a:r>
              <a:rPr lang="es-ES" sz="1600">
                <a:latin typeface="+mn-lt"/>
              </a:rPr>
              <a:t>City4CFD</a:t>
            </a:r>
          </a:p>
          <a:p>
            <a:pPr marL="285750" indent="-285750">
              <a:buChar char="•"/>
            </a:pPr>
            <a:r>
              <a:rPr lang="es-ES" sz="1600" err="1">
                <a:latin typeface="+mn-lt"/>
              </a:rPr>
              <a:t>STLtoGEOtool</a:t>
            </a:r>
          </a:p>
          <a:p>
            <a:pPr marL="285750" indent="-285750">
              <a:buChar char="•"/>
            </a:pPr>
            <a:r>
              <a:rPr lang="es-ES" sz="1600">
                <a:latin typeface="+mn-lt"/>
              </a:rPr>
              <a:t>ANSA Scripting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28003AD-56D4-D22E-9F06-0DA4EABDED49}"/>
              </a:ext>
            </a:extLst>
          </p:cNvPr>
          <p:cNvSpPr txBox="1"/>
          <p:nvPr/>
        </p:nvSpPr>
        <p:spPr>
          <a:xfrm>
            <a:off x="2697392" y="2309813"/>
            <a:ext cx="230323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s-ES" sz="1600">
                <a:latin typeface="+mn-lt"/>
              </a:rPr>
              <a:t>SOD2D</a:t>
            </a:r>
          </a:p>
          <a:p>
            <a:pPr marL="285750" indent="-285750">
              <a:buChar char="•"/>
            </a:pPr>
            <a:r>
              <a:rPr lang="es-ES" sz="1600" err="1">
                <a:latin typeface="+mn-lt"/>
              </a:rPr>
              <a:t>Wind</a:t>
            </a:r>
            <a:r>
              <a:rPr lang="es-ES" sz="1600">
                <a:latin typeface="+mn-lt"/>
              </a:rPr>
              <a:t> Neural Network</a:t>
            </a:r>
          </a:p>
          <a:p>
            <a:pPr marL="285750" indent="-285750">
              <a:buChar char="•"/>
            </a:pPr>
            <a:r>
              <a:rPr lang="es-ES" sz="1600">
                <a:latin typeface="+mn-lt"/>
              </a:rPr>
              <a:t>GAVI</a:t>
            </a:r>
          </a:p>
          <a:p>
            <a:pPr marL="285750" indent="-285750">
              <a:buChar char="•"/>
            </a:pPr>
            <a:r>
              <a:rPr lang="es-ES" sz="1600">
                <a:latin typeface="+mn-lt"/>
              </a:rPr>
              <a:t>LAMINE</a:t>
            </a:r>
          </a:p>
          <a:p>
            <a:pPr marL="285750" indent="-285750">
              <a:buChar char="•"/>
            </a:pPr>
            <a:r>
              <a:rPr lang="es-ES" sz="1600">
                <a:latin typeface="+mn-lt"/>
              </a:rPr>
              <a:t>Etc...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FBA20F0C-2900-4812-E095-5460AE56CD9D}"/>
              </a:ext>
            </a:extLst>
          </p:cNvPr>
          <p:cNvSpPr/>
          <p:nvPr/>
        </p:nvSpPr>
        <p:spPr>
          <a:xfrm>
            <a:off x="2695458" y="1651965"/>
            <a:ext cx="1373188" cy="47625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latin typeface="Impact"/>
                <a:ea typeface="Calibri"/>
                <a:cs typeface="Calibri"/>
              </a:rPr>
              <a:t>Processing</a:t>
            </a:r>
            <a:endParaRPr lang="es-ES" err="1">
              <a:latin typeface="Calibri"/>
              <a:ea typeface="Calibri"/>
              <a:cs typeface="Calibri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920BBB9-5B13-6B7F-91C0-FBE5A4654918}"/>
              </a:ext>
            </a:extLst>
          </p:cNvPr>
          <p:cNvSpPr txBox="1"/>
          <p:nvPr/>
        </p:nvSpPr>
        <p:spPr>
          <a:xfrm>
            <a:off x="6058728" y="1967118"/>
            <a:ext cx="161215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400">
                <a:latin typeface="Impact"/>
                <a:cs typeface="Times New Roman"/>
              </a:rPr>
              <a:t>Digital Twin </a:t>
            </a:r>
            <a:r>
              <a:rPr lang="es-ES" sz="2400" err="1">
                <a:latin typeface="Impact"/>
                <a:cs typeface="Times New Roman"/>
              </a:rPr>
              <a:t>Integration</a:t>
            </a:r>
            <a:endParaRPr lang="es-ES" sz="2400">
              <a:latin typeface="Times New Roman"/>
              <a:cs typeface="Times New Roman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FD9492-9AB0-696C-0F7A-A18B02CA53AE}"/>
              </a:ext>
            </a:extLst>
          </p:cNvPr>
          <p:cNvSpPr txBox="1"/>
          <p:nvPr/>
        </p:nvSpPr>
        <p:spPr>
          <a:xfrm>
            <a:off x="501804" y="919975"/>
            <a:ext cx="601964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>
                <a:latin typeface="+mn-lt"/>
              </a:rPr>
              <a:t>A modular </a:t>
            </a:r>
            <a:r>
              <a:rPr lang="es-ES" sz="1600" err="1">
                <a:latin typeface="+mn-lt"/>
              </a:rPr>
              <a:t>toolbox</a:t>
            </a:r>
            <a:r>
              <a:rPr lang="es-ES" sz="1600">
                <a:latin typeface="+mn-lt"/>
              </a:rPr>
              <a:t> </a:t>
            </a:r>
            <a:r>
              <a:rPr lang="es-ES" sz="1600" err="1">
                <a:latin typeface="+mn-lt"/>
              </a:rPr>
              <a:t>for</a:t>
            </a:r>
            <a:r>
              <a:rPr lang="es-ES" sz="1600">
                <a:latin typeface="+mn-lt"/>
              </a:rPr>
              <a:t> </a:t>
            </a:r>
            <a:r>
              <a:rPr lang="es-ES" sz="1600" err="1">
                <a:latin typeface="+mn-lt"/>
              </a:rPr>
              <a:t>cities</a:t>
            </a:r>
            <a:r>
              <a:rPr lang="es-ES" sz="1600">
                <a:latin typeface="+mn-lt"/>
              </a:rPr>
              <a:t> </a:t>
            </a:r>
            <a:r>
              <a:rPr lang="es-ES" sz="1600" err="1">
                <a:latin typeface="+mn-lt"/>
              </a:rPr>
              <a:t>climate</a:t>
            </a:r>
            <a:r>
              <a:rPr lang="es-ES" sz="1600">
                <a:latin typeface="+mn-lt"/>
              </a:rPr>
              <a:t> </a:t>
            </a:r>
            <a:r>
              <a:rPr lang="es-ES" sz="1600" err="1">
                <a:latin typeface="+mn-lt"/>
              </a:rPr>
              <a:t>modeling</a:t>
            </a:r>
            <a:r>
              <a:rPr lang="es-ES" sz="1600">
                <a:latin typeface="+mn-lt"/>
              </a:rPr>
              <a:t> and </a:t>
            </a:r>
            <a:r>
              <a:rPr lang="es-ES" sz="1600" err="1">
                <a:latin typeface="+mn-lt"/>
              </a:rPr>
              <a:t>prediction</a:t>
            </a:r>
          </a:p>
        </p:txBody>
      </p:sp>
      <p:cxnSp>
        <p:nvCxnSpPr>
          <p:cNvPr id="4" name="Google Shape;519;p65">
            <a:extLst>
              <a:ext uri="{FF2B5EF4-FFF2-40B4-BE49-F238E27FC236}">
                <a16:creationId xmlns:a16="http://schemas.microsoft.com/office/drawing/2014/main" id="{7229EC60-3622-D148-39E0-3AFD824EE5F7}"/>
              </a:ext>
            </a:extLst>
          </p:cNvPr>
          <p:cNvCxnSpPr/>
          <p:nvPr/>
        </p:nvCxnSpPr>
        <p:spPr>
          <a:xfrm>
            <a:off x="554039" y="622777"/>
            <a:ext cx="2402700" cy="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368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  <p:bldP spid="19" grpId="0"/>
      <p:bldP spid="20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74E74-EDFF-DA16-9E99-DD54624BC2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0B04795-0DE7-4ECC-8A35-5B225D21AD06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F04FA812-9564-D94E-800B-656F4B835A1F}"/>
              </a:ext>
            </a:extLst>
          </p:cNvPr>
          <p:cNvSpPr txBox="1">
            <a:spLocks/>
          </p:cNvSpPr>
          <p:nvPr/>
        </p:nvSpPr>
        <p:spPr>
          <a:xfrm>
            <a:off x="1753248" y="1778729"/>
            <a:ext cx="5185800" cy="118082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GB" sz="2100">
                <a:solidFill>
                  <a:srgbClr val="0D6CC0"/>
                </a:solidFill>
                <a:latin typeface="Impact"/>
              </a:rPr>
              <a:t>THANK YOU!</a:t>
            </a:r>
            <a:endParaRPr lang="en-GB" sz="2100">
              <a:solidFill>
                <a:srgbClr val="0D6CC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780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BD23DF-4095-17E7-4007-385AB7787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650" y="912580"/>
            <a:ext cx="6052247" cy="1180823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0D6CC0"/>
                </a:solidFill>
                <a:effectLst/>
                <a:latin typeface="Impact" panose="020B0806030902050204" pitchFamily="34" charset="0"/>
              </a:rPr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84A827-F2ED-ADF8-EE41-EA51393513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95974" y="4641204"/>
            <a:ext cx="3248025" cy="400109"/>
          </a:xfrm>
        </p:spPr>
        <p:txBody>
          <a:bodyPr/>
          <a:lstStyle/>
          <a:p>
            <a:r>
              <a:rPr lang="es-ES" err="1"/>
              <a:t>Conference</a:t>
            </a:r>
            <a:r>
              <a:rPr lang="es-ES"/>
              <a:t> </a:t>
            </a:r>
            <a:r>
              <a:rPr lang="es-ES" err="1"/>
              <a:t>Name</a:t>
            </a:r>
            <a:endParaRPr lang="es-ES"/>
          </a:p>
          <a:p>
            <a:r>
              <a:rPr lang="en-GB"/>
              <a:t>Date</a:t>
            </a:r>
          </a:p>
        </p:txBody>
      </p:sp>
      <p:sp>
        <p:nvSpPr>
          <p:cNvPr id="5" name="Google Shape;212;p40">
            <a:extLst>
              <a:ext uri="{FF2B5EF4-FFF2-40B4-BE49-F238E27FC236}">
                <a16:creationId xmlns:a16="http://schemas.microsoft.com/office/drawing/2014/main" id="{EEF24D68-7DE0-D137-01BF-3AA468AD72C1}"/>
              </a:ext>
            </a:extLst>
          </p:cNvPr>
          <p:cNvSpPr txBox="1">
            <a:spLocks/>
          </p:cNvSpPr>
          <p:nvPr/>
        </p:nvSpPr>
        <p:spPr>
          <a:xfrm>
            <a:off x="368650" y="2106797"/>
            <a:ext cx="6300316" cy="1918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Clr>
                <a:schemeClr val="dk1"/>
              </a:buClr>
              <a:buSzPts val="2400"/>
              <a:buFont typeface="Calibri"/>
              <a:buNone/>
            </a:pPr>
            <a:r>
              <a:rPr lang="es-ES" sz="140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Autors</a:t>
            </a: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***</a:t>
            </a:r>
            <a:endParaRPr lang="en-AD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ctr">
              <a:spcBef>
                <a:spcPts val="1001"/>
              </a:spcBef>
              <a:buClr>
                <a:srgbClr val="000000"/>
              </a:buClr>
              <a:buSzPts val="1400"/>
              <a:buFont typeface="Calibri"/>
              <a:buNone/>
            </a:pPr>
            <a:r>
              <a:rPr lang="en-AD" sz="1400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lang="en-AD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spcBef>
                <a:spcPts val="1001"/>
              </a:spcBef>
              <a:buClr>
                <a:srgbClr val="000000"/>
              </a:buClr>
              <a:buSzPts val="1400"/>
              <a:buFont typeface="Calibri"/>
              <a:buNone/>
            </a:pPr>
            <a:r>
              <a:rPr lang="en-AD" sz="1400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AD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TUAREG - Turbulence and Aerodynamics Research Group, Universitat Politècnica de Catalunya</a:t>
            </a:r>
          </a:p>
          <a:p>
            <a:pPr marL="0" indent="0" algn="ctr">
              <a:spcBef>
                <a:spcPts val="1001"/>
              </a:spcBef>
              <a:buClr>
                <a:srgbClr val="000000"/>
              </a:buClr>
              <a:buSzPts val="1400"/>
              <a:buFont typeface="Calibri"/>
              <a:buNone/>
            </a:pPr>
            <a:r>
              <a:rPr lang="en-AD" sz="1400" baseline="30000">
                <a:latin typeface="Calibri"/>
                <a:ea typeface="Calibri"/>
                <a:cs typeface="Calibri"/>
                <a:sym typeface="Calibri"/>
              </a:rPr>
              <a:t>3</a:t>
            </a:r>
            <a:endParaRPr lang="en-AD" sz="14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3706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6F53F-0565-FE27-4064-07E28F105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2800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1F11D-2B78-C51E-8864-BB58E3297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C1659-635D-DCED-C1F1-100E3C295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0B04795-0DE7-4ECC-8A35-5B225D21AD06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680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F7F6B3A1-18E8-704E-B064-79D98DA49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140606-BD14-527C-3978-161969720BA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-2190355" y="2190356"/>
            <a:ext cx="5143500" cy="762788"/>
          </a:xfrm>
          <a:prstGeom prst="rect">
            <a:avLst/>
          </a:prstGeom>
        </p:spPr>
      </p:pic>
      <p:cxnSp>
        <p:nvCxnSpPr>
          <p:cNvPr id="517" name="Google Shape;517;p65">
            <a:extLst>
              <a:ext uri="{FF2B5EF4-FFF2-40B4-BE49-F238E27FC236}">
                <a16:creationId xmlns:a16="http://schemas.microsoft.com/office/drawing/2014/main" id="{AB011816-233A-E5A8-51EF-A53DF9011B98}"/>
              </a:ext>
            </a:extLst>
          </p:cNvPr>
          <p:cNvCxnSpPr/>
          <p:nvPr/>
        </p:nvCxnSpPr>
        <p:spPr>
          <a:xfrm>
            <a:off x="1619443" y="4808703"/>
            <a:ext cx="5905200" cy="12600"/>
          </a:xfrm>
          <a:prstGeom prst="straightConnector1">
            <a:avLst/>
          </a:prstGeom>
          <a:noFill/>
          <a:ln w="12700" cap="flat" cmpd="sng">
            <a:solidFill>
              <a:srgbClr val="0033A0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518" name="Google Shape;518;p65">
            <a:extLst>
              <a:ext uri="{FF2B5EF4-FFF2-40B4-BE49-F238E27FC236}">
                <a16:creationId xmlns:a16="http://schemas.microsoft.com/office/drawing/2014/main" id="{0F2F19BB-06FF-6DE7-508E-33918BECC25C}"/>
              </a:ext>
            </a:extLst>
          </p:cNvPr>
          <p:cNvSpPr txBox="1"/>
          <p:nvPr/>
        </p:nvSpPr>
        <p:spPr>
          <a:xfrm>
            <a:off x="503347" y="1139921"/>
            <a:ext cx="5544000" cy="91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000" b="1" err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</a:t>
            </a:r>
            <a:r>
              <a:rPr lang="es-MX" sz="4000" b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MX" sz="4000" b="1" err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  <a:r>
              <a:rPr lang="es-MX" sz="4000" b="1">
                <a:solidFill>
                  <a:srgbClr val="0033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!</a:t>
            </a:r>
            <a:endParaRPr sz="24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E7717E9-AE98-5482-40FE-AA21F95C12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23</a:t>
            </a:fld>
            <a:endParaRPr lang="es-419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A8677E-CA7B-46FF-08FA-278B1CF4267D}"/>
              </a:ext>
            </a:extLst>
          </p:cNvPr>
          <p:cNvSpPr txBox="1"/>
          <p:nvPr/>
        </p:nvSpPr>
        <p:spPr>
          <a:xfrm>
            <a:off x="549275" y="2571750"/>
            <a:ext cx="319722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José Ignacio Huertas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jhuertas@tec.mx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Fabián Hernández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fabianh@tec.mx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916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>
          <a:extLst>
            <a:ext uri="{FF2B5EF4-FFF2-40B4-BE49-F238E27FC236}">
              <a16:creationId xmlns:a16="http://schemas.microsoft.com/office/drawing/2014/main" id="{7B494BB2-DD39-C1B1-1AE1-DE3441BFE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>
            <a:extLst>
              <a:ext uri="{FF2B5EF4-FFF2-40B4-BE49-F238E27FC236}">
                <a16:creationId xmlns:a16="http://schemas.microsoft.com/office/drawing/2014/main" id="{4FE9A0A1-EB98-A573-C680-F1AB40DD29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-2177759" y="2177760"/>
            <a:ext cx="5118308" cy="762788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8F895FD-2327-3787-0705-5AAFD7FB139B}"/>
              </a:ext>
            </a:extLst>
          </p:cNvPr>
          <p:cNvSpPr/>
          <p:nvPr/>
        </p:nvSpPr>
        <p:spPr>
          <a:xfrm>
            <a:off x="368198" y="-12702"/>
            <a:ext cx="2401861" cy="5156202"/>
          </a:xfrm>
          <a:custGeom>
            <a:avLst/>
            <a:gdLst>
              <a:gd name="connsiteX0" fmla="*/ 0 w 514350"/>
              <a:gd name="connsiteY0" fmla="*/ 139700 h 139700"/>
              <a:gd name="connsiteX1" fmla="*/ 514350 w 514350"/>
              <a:gd name="connsiteY1" fmla="*/ 0 h 13970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39576"/>
              <a:gd name="connsiteY0" fmla="*/ 141840 h 141840"/>
              <a:gd name="connsiteX1" fmla="*/ 439576 w 439576"/>
              <a:gd name="connsiteY1" fmla="*/ 0 h 141840"/>
              <a:gd name="connsiteX0" fmla="*/ 0 w 441913"/>
              <a:gd name="connsiteY0" fmla="*/ 142192 h 142192"/>
              <a:gd name="connsiteX1" fmla="*/ 441913 w 441913"/>
              <a:gd name="connsiteY1" fmla="*/ 0 h 142192"/>
              <a:gd name="connsiteX0" fmla="*/ 0 w 441913"/>
              <a:gd name="connsiteY0" fmla="*/ 142192 h 142192"/>
              <a:gd name="connsiteX1" fmla="*/ 441913 w 441913"/>
              <a:gd name="connsiteY1" fmla="*/ 0 h 14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1913" h="142192">
                <a:moveTo>
                  <a:pt x="0" y="142192"/>
                </a:moveTo>
                <a:cubicBezTo>
                  <a:pt x="208491" y="132138"/>
                  <a:pt x="436222" y="91909"/>
                  <a:pt x="441913" y="0"/>
                </a:cubicBezTo>
              </a:path>
            </a:pathLst>
          </a:cu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Google Shape;486;p63">
            <a:extLst>
              <a:ext uri="{FF2B5EF4-FFF2-40B4-BE49-F238E27FC236}">
                <a16:creationId xmlns:a16="http://schemas.microsoft.com/office/drawing/2014/main" id="{05588B13-AC8E-BCB0-CD68-7E8785EB7F8E}"/>
              </a:ext>
            </a:extLst>
          </p:cNvPr>
          <p:cNvSpPr txBox="1"/>
          <p:nvPr/>
        </p:nvSpPr>
        <p:spPr>
          <a:xfrm>
            <a:off x="2770059" y="1676228"/>
            <a:ext cx="3589243" cy="1276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25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3000"/>
              <a:buFont typeface="Open Sans"/>
              <a:buNone/>
            </a:pPr>
            <a:r>
              <a:rPr lang="en-US" sz="5400" b="1" cap="small">
                <a:solidFill>
                  <a:srgbClr val="44546A"/>
                </a:solidFill>
                <a:latin typeface="Open Sans"/>
                <a:ea typeface="Open Sans"/>
                <a:cs typeface="Open Sans"/>
                <a:sym typeface="Open Sans"/>
              </a:rPr>
              <a:t>APPENDIX</a:t>
            </a:r>
            <a:endParaRPr lang="en-US" sz="240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919365D-F12F-1E63-D202-A892910523FD}"/>
              </a:ext>
            </a:extLst>
          </p:cNvPr>
          <p:cNvCxnSpPr>
            <a:cxnSpLocks/>
          </p:cNvCxnSpPr>
          <p:nvPr/>
        </p:nvCxnSpPr>
        <p:spPr>
          <a:xfrm>
            <a:off x="611188" y="708147"/>
            <a:ext cx="16277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43B05CF-F3B7-105D-94DC-67CD8B1EA931}"/>
              </a:ext>
            </a:extLst>
          </p:cNvPr>
          <p:cNvCxnSpPr>
            <a:cxnSpLocks/>
          </p:cNvCxnSpPr>
          <p:nvPr/>
        </p:nvCxnSpPr>
        <p:spPr>
          <a:xfrm>
            <a:off x="611188" y="1541758"/>
            <a:ext cx="14898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20DF3D1-830A-E3B8-4F87-CBCC4E6FA7F6}"/>
              </a:ext>
            </a:extLst>
          </p:cNvPr>
          <p:cNvCxnSpPr>
            <a:cxnSpLocks/>
          </p:cNvCxnSpPr>
          <p:nvPr/>
        </p:nvCxnSpPr>
        <p:spPr>
          <a:xfrm>
            <a:off x="604678" y="2575831"/>
            <a:ext cx="1181867" cy="4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BAC1CC0-411B-6214-B949-D83EE01A9ED7}"/>
              </a:ext>
            </a:extLst>
          </p:cNvPr>
          <p:cNvCxnSpPr>
            <a:cxnSpLocks/>
          </p:cNvCxnSpPr>
          <p:nvPr/>
        </p:nvCxnSpPr>
        <p:spPr>
          <a:xfrm>
            <a:off x="611188" y="3499061"/>
            <a:ext cx="7867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30D144B-75FC-3EDF-AA55-5057C8C5CBB1}"/>
              </a:ext>
            </a:extLst>
          </p:cNvPr>
          <p:cNvCxnSpPr>
            <a:cxnSpLocks/>
          </p:cNvCxnSpPr>
          <p:nvPr/>
        </p:nvCxnSpPr>
        <p:spPr>
          <a:xfrm>
            <a:off x="611188" y="4379460"/>
            <a:ext cx="370388" cy="0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41C5060-D04A-EBFF-B349-DB2DCD910A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419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4418357"/>
      </p:ext>
    </p:extLst>
  </p:cSld>
  <p:clrMapOvr>
    <a:masterClrMapping/>
  </p:clrMapOvr>
</p:sld>
</file>

<file path=ppt/theme/theme1.xml><?xml version="1.0" encoding="utf-8"?>
<a:theme xmlns:a="http://schemas.openxmlformats.org/drawingml/2006/main" name="FVV">
  <a:themeElements>
    <a:clrScheme name="FVV">
      <a:dk1>
        <a:srgbClr val="004569"/>
      </a:dk1>
      <a:lt1>
        <a:srgbClr val="7F94AA"/>
      </a:lt1>
      <a:dk2>
        <a:srgbClr val="0089B6"/>
      </a:dk2>
      <a:lt2>
        <a:srgbClr val="00A8A6"/>
      </a:lt2>
      <a:accent1>
        <a:srgbClr val="A20066"/>
      </a:accent1>
      <a:accent2>
        <a:srgbClr val="E6301F"/>
      </a:accent2>
      <a:accent3>
        <a:srgbClr val="B17E49"/>
      </a:accent3>
      <a:accent4>
        <a:srgbClr val="ECC300"/>
      </a:accent4>
      <a:accent5>
        <a:srgbClr val="562049"/>
      </a:accent5>
      <a:accent6>
        <a:srgbClr val="FFFFFF"/>
      </a:accent6>
      <a:hlink>
        <a:srgbClr val="004569"/>
      </a:hlink>
      <a:folHlink>
        <a:srgbClr val="0045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UAREG">
  <a:themeElements>
    <a:clrScheme name="TUAREG">
      <a:dk1>
        <a:srgbClr val="000000"/>
      </a:dk1>
      <a:lt1>
        <a:srgbClr val="FFFFFF"/>
      </a:lt1>
      <a:dk2>
        <a:srgbClr val="011129"/>
      </a:dk2>
      <a:lt2>
        <a:srgbClr val="D9F3FF"/>
      </a:lt2>
      <a:accent1>
        <a:srgbClr val="007BC0"/>
      </a:accent1>
      <a:accent2>
        <a:srgbClr val="E09F1F"/>
      </a:accent2>
      <a:accent3>
        <a:srgbClr val="02337C"/>
      </a:accent3>
      <a:accent4>
        <a:srgbClr val="5FAFF9"/>
      </a:accent4>
      <a:accent5>
        <a:srgbClr val="008A5E"/>
      </a:accent5>
      <a:accent6>
        <a:srgbClr val="C5512E"/>
      </a:accent6>
      <a:hlink>
        <a:srgbClr val="007BC0"/>
      </a:hlink>
      <a:folHlink>
        <a:srgbClr val="B155A8"/>
      </a:folHlink>
    </a:clrScheme>
    <a:fontScheme name="TUAREG">
      <a:majorFont>
        <a:latin typeface="Helvetica Neue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" id="{7AD69F07-56BD-FD41-8094-7AB348C61A60}" vid="{B9F10FEF-4D36-F942-BD01-B0553AB60D86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466EEC0-1F40-4E24-B789-2E27D59DF58E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7E48474546CD4E86BCCD85BE33B799" ma:contentTypeVersion="4" ma:contentTypeDescription="Crea un document nou" ma:contentTypeScope="" ma:versionID="10480fcdbdc81fc5254a42c243b254cf">
  <xsd:schema xmlns:xsd="http://www.w3.org/2001/XMLSchema" xmlns:xs="http://www.w3.org/2001/XMLSchema" xmlns:p="http://schemas.microsoft.com/office/2006/metadata/properties" xmlns:ns3="251f69a1-8213-49a2-a023-eec86ec09a4b" targetNamespace="http://schemas.microsoft.com/office/2006/metadata/properties" ma:root="true" ma:fieldsID="71e9e202be65f04d5a1d71d54a474b56" ns3:_="">
    <xsd:import namespace="251f69a1-8213-49a2-a023-eec86ec09a4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1f69a1-8213-49a2-a023-eec86ec09a4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us de contingut"/>
        <xsd:element ref="dc:title" minOccurs="0" maxOccurs="1" ma:index="4" ma:displayName="Títo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51A120-635F-41A7-B13C-C084002B7C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659AE6-EC7B-4DF0-B89B-89FD5C55F915}">
  <ds:schemaRefs>
    <ds:schemaRef ds:uri="251f69a1-8213-49a2-a023-eec86ec09a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A6822A1-B461-4498-86BD-E945457E6D3F}">
  <ds:schemaRefs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251f69a1-8213-49a2-a023-eec86ec09a4b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771</Words>
  <Application>Microsoft Office PowerPoint</Application>
  <PresentationFormat>On-screen Show (16:9)</PresentationFormat>
  <Paragraphs>258</Paragraphs>
  <Slides>24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Times New Roman</vt:lpstr>
      <vt:lpstr>Arial</vt:lpstr>
      <vt:lpstr>Impact</vt:lpstr>
      <vt:lpstr>Calibri</vt:lpstr>
      <vt:lpstr>Helvetica Neue</vt:lpstr>
      <vt:lpstr>baumans</vt:lpstr>
      <vt:lpstr>Open Sans</vt:lpstr>
      <vt:lpstr>Gill Sans</vt:lpstr>
      <vt:lpstr>FVV</vt:lpstr>
      <vt:lpstr>3_Tema de Office</vt:lpstr>
      <vt:lpstr>TUAREG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TITLE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Fabian Hernandez Rodriguez</dc:creator>
  <cp:lastModifiedBy>Fabian Alexis Hernandez</cp:lastModifiedBy>
  <cp:revision>3</cp:revision>
  <dcterms:modified xsi:type="dcterms:W3CDTF">2026-01-16T13:24:01Z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0x010100F37E48474546CD4E86BCCD85BE33B799</vt:lpwstr>
  </property>
</Properties>
</file>